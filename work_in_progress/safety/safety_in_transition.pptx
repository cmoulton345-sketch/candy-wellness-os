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Today's safety moment isn't about a specific hazard or a piece of equipment. It's about something bigger than that. It's about the phase we are in — right now — and what it means for every one of us on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been building this facility from the ground up. Concrete, steel, pipe, wire — we've put years of work into this site. And now we are crossing a threshold. We are transitioning.</a:t>
            </a:r>
          </a:p>
          <a:p/>
          <a:p>
            <a:r>
              <a:t>That word — transition — sounds simple. But in the LNG world, it is one of the most complex, most critical, and most hazard-dense periods of any project.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official definition. Let me say it plainly.</a:t>
            </a:r>
          </a:p>
          <a:p/>
          <a:p>
            <a:r>
              <a:t>During transition, the hazards on this site change. Every single day. A system that was safe to work on yesterday — because it was dead, cold, and isolated — may be energized, pressurized, or live with gas tomorrow.</a:t>
            </a:r>
          </a:p>
          <a:p/>
          <a:p>
            <a:r>
              <a:t>The rules of the game are changing. And if we don't change with them — people get hurt.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means communication. Clear, documented, and verified.</a:t>
            </a:r>
          </a:p>
          <a:p/>
          <a:p>
            <a:r>
              <a:t>In transition, one crew is handing systems to another. Construction to precomm. Precomm to commissioning. Commissioning to operations. Every one of those handovers is a moment where information can fall through the cracks...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means cooperation. And this is where projects can struggle.</a:t>
            </a:r>
          </a:p>
          <a:p/>
          <a:p>
            <a:r>
              <a:t>Right now, on this site, you have multiple disciplines — multiple contractors — multiple crews — all working in the same space, on overlapping scopes, at the same 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means vigilance. More than ever before.</a:t>
            </a:r>
          </a:p>
          <a:p/>
          <a:p>
            <a:r>
              <a:t>When we were deep in construction, the hazards were familiar. Falls. Lifting. Struck-by. Working at heights. We knew the site. We had our routines...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means discipline. Because the pressure is going to increase from here.</a:t>
            </a:r>
          </a:p>
          <a:p/>
          <a:p>
            <a:r>
              <a:t>As we move through commissioning and toward first gas, the schedule pressure builds. Milestones are tracked...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here's the part I want you to carry with you.</a:t>
            </a:r>
          </a:p>
          <a:p/>
          <a:p>
            <a:r>
              <a:t>It means achievement. Real, earned achievement.</a:t>
            </a:r>
          </a:p>
          <a:p/>
          <a:p>
            <a:r>
              <a:t>Look at this site. Look at what has been built. Every weld, every bolt, every cable pull — that was someone in this room. You built this.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when we talk about Safety in Transition — this is what we're actually talking about.</a:t>
            </a:r>
          </a:p>
          <a:p/>
          <a:p>
            <a:r>
              <a:t>Communication, so no one is left in the dark when hazards change.</a:t>
            </a:r>
          </a:p>
          <a:p>
            <a:r>
              <a:t>Cooperation, so we protect each other across every crew and every boundary.</a:t>
            </a:r>
          </a:p>
          <a:p>
            <a:r>
              <a:t>Vigilance, so we see the new hazards before they see us.</a:t>
            </a:r>
          </a:p>
          <a:p>
            <a:r>
              <a:t>Discipline, so we hold the line when the pressure builds.</a:t>
            </a:r>
          </a:p>
          <a:p>
            <a:r>
              <a:t>Achievement, because we know what we're working toward and we refuse to let anything get in the way of getting there — safely.</a:t>
            </a:r>
          </a:p>
          <a:p/>
          <a:p>
            <a:r>
              <a:t>Add all of that up — and you get operational readiness.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go, here are your five commitments for today. These aren't rules handed down from a manual — these are the things that will get us through transition safely.</a:t>
            </a:r>
          </a:p>
          <a:p/>
          <a:p>
            <a:r>
              <a:t>Know what's live. Speak up. Follow the process. Ask questions. Look after each other.</a:t>
            </a:r>
          </a:p>
          <a:p/>
          <a:p>
            <a:r>
              <a:t>We didn't come this far to cut corners now. Let me know if you have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E1C"/>
        </a:solidFill>
        <a:effectLst/>
      </p:bgPr>
    </p:bg>
    <p:spTree>
      <p:nvGrpSpPr>
        <p:cNvPr id="1" name=""/>
        <p:cNvGrpSpPr/>
        <p:nvPr/>
      </p:nvGrpSpPr>
      <p:grpSpPr/>
      <p:sp>
        <p:nvSpPr>
          <p:cNvPr id="2" name="TextBox 1"/>
          <p:cNvSpPr txBox="1"/>
          <p:nvPr/>
        </p:nvSpPr>
        <p:spPr>
          <a:xfrm>
            <a:off x="457200" y="228600"/>
            <a:ext cx="2743200" cy="548640"/>
          </a:xfrm>
          <a:prstGeom prst="rect">
            <a:avLst/>
          </a:prstGeom>
          <a:noFill/>
        </p:spPr>
        <p:txBody>
          <a:bodyPr wrap="square" lIns="0" tIns="0" rIns="0" bIns="0">
            <a:spAutoFit/>
          </a:bodyPr>
          <a:lstStyle/>
          <a:p>
            <a:pPr>
              <a:defRPr sz="1300" b="1">
                <a:solidFill>
                  <a:srgbClr val="5BAAD8"/>
                </a:solidFill>
              </a:defRPr>
            </a:pPr>
            <a:r>
              <a:t>Woodfibre </a:t>
            </a:r>
            <a:r>
              <a:rPr sz="1300" b="1">
                <a:solidFill>
                  <a:srgbClr val="7DC24B"/>
                </a:solidFill>
              </a:rPr>
              <a:t>LNG</a:t>
            </a:r>
          </a:p>
        </p:txBody>
      </p:sp>
      <p:sp>
        <p:nvSpPr>
          <p:cNvPr id="3" name="TextBox 2"/>
          <p:cNvSpPr txBox="1"/>
          <p:nvPr/>
        </p:nvSpPr>
        <p:spPr>
          <a:xfrm>
            <a:off x="9448495" y="228600"/>
            <a:ext cx="2286000" cy="548640"/>
          </a:xfrm>
          <a:prstGeom prst="rect">
            <a:avLst/>
          </a:prstGeom>
          <a:noFill/>
        </p:spPr>
        <p:txBody>
          <a:bodyPr wrap="square" lIns="0" tIns="0" rIns="0" bIns="0">
            <a:spAutoFit/>
          </a:bodyPr>
          <a:lstStyle/>
          <a:p>
            <a:pPr algn="r">
              <a:defRPr sz="1300" b="1">
                <a:solidFill>
                  <a:srgbClr val="5BAAD8"/>
                </a:solidFill>
              </a:defRPr>
            </a:pPr>
            <a:r>
              <a:t>Woodfibre </a:t>
            </a:r>
            <a:r>
              <a:rPr sz="1300" b="1">
                <a:solidFill>
                  <a:srgbClr val="7DC24B"/>
                </a:solidFill>
              </a:rPr>
              <a:t>LNG</a:t>
            </a:r>
          </a:p>
        </p:txBody>
      </p:sp>
      <p:sp>
        <p:nvSpPr>
          <p:cNvPr id="4" name="Rectangle 3"/>
          <p:cNvSpPr/>
          <p:nvPr/>
        </p:nvSpPr>
        <p:spPr>
          <a:xfrm>
            <a:off x="0" y="0"/>
            <a:ext cx="12191695" cy="73152"/>
          </a:xfrm>
          <a:prstGeom prst="rect">
            <a:avLst/>
          </a:prstGeom>
          <a:solidFill>
            <a:srgbClr val="7DC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645920"/>
            <a:ext cx="9448495" cy="3200400"/>
          </a:xfrm>
          <a:prstGeom prst="rect">
            <a:avLst/>
          </a:prstGeom>
          <a:noFill/>
        </p:spPr>
        <p:txBody>
          <a:bodyPr wrap="square">
            <a:spAutoFit/>
          </a:bodyPr>
          <a:lstStyle/>
          <a:p>
            <a:pPr algn="ctr">
              <a:defRPr sz="1200" b="1">
                <a:solidFill>
                  <a:srgbClr val="5BAAD8"/>
                </a:solidFill>
              </a:defRPr>
            </a:pPr>
            <a:r>
              <a:t>WOODFIBRE LNG — SAFETY MOMENT</a:t>
            </a:r>
          </a:p>
          <a:p>
            <a:pPr algn="ctr">
              <a:spcBef>
                <a:spcPts val="1400"/>
              </a:spcBef>
              <a:defRPr sz="4400" b="1">
                <a:solidFill>
                  <a:srgbClr val="FFFFFF"/>
                </a:solidFill>
              </a:defRPr>
            </a:pPr>
            <a:r>
              <a:t>SAFETY IN TRANSITION</a:t>
            </a:r>
          </a:p>
          <a:p>
            <a:pPr algn="ctr">
              <a:spcBef>
                <a:spcPts val="1200"/>
              </a:spcBef>
              <a:defRPr sz="1800">
                <a:solidFill>
                  <a:srgbClr val="7FA8CC"/>
                </a:solidFill>
              </a:defRPr>
            </a:pPr>
            <a:r>
              <a:t>From Construction to Operations — Getting There Together</a:t>
            </a:r>
          </a:p>
        </p:txBody>
      </p:sp>
      <p:sp>
        <p:nvSpPr>
          <p:cNvPr id="6" name="Rounded Rectangle 5"/>
          <p:cNvSpPr/>
          <p:nvPr/>
        </p:nvSpPr>
        <p:spPr>
          <a:xfrm>
            <a:off x="1661007" y="4846320"/>
            <a:ext cx="2011680" cy="457200"/>
          </a:xfrm>
          <a:prstGeom prst="roundRect">
            <a:avLst/>
          </a:prstGeom>
          <a:solidFill>
            <a:srgbClr val="0D2040"/>
          </a:solidFill>
          <a:ln w="12700">
            <a:solidFill>
              <a:srgbClr val="2E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EF4FB"/>
                </a:solidFill>
              </a:defRPr>
            </a:pPr>
            <a:r>
              <a:t>🏗️ Construction</a:t>
            </a:r>
          </a:p>
        </p:txBody>
      </p:sp>
      <p:sp>
        <p:nvSpPr>
          <p:cNvPr id="7" name="Rounded Rectangle 6"/>
          <p:cNvSpPr/>
          <p:nvPr/>
        </p:nvSpPr>
        <p:spPr>
          <a:xfrm>
            <a:off x="3947007" y="4846320"/>
            <a:ext cx="2011680" cy="457200"/>
          </a:xfrm>
          <a:prstGeom prst="roundRect">
            <a:avLst/>
          </a:prstGeom>
          <a:solidFill>
            <a:srgbClr val="0D2040"/>
          </a:solidFill>
          <a:ln w="12700">
            <a:solidFill>
              <a:srgbClr val="2E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EF4FB"/>
                </a:solidFill>
              </a:defRPr>
            </a:pPr>
            <a:r>
              <a:t>⚙️ Precommissioning</a:t>
            </a:r>
          </a:p>
        </p:txBody>
      </p:sp>
      <p:sp>
        <p:nvSpPr>
          <p:cNvPr id="8" name="Rounded Rectangle 7"/>
          <p:cNvSpPr/>
          <p:nvPr/>
        </p:nvSpPr>
        <p:spPr>
          <a:xfrm>
            <a:off x="6233007" y="4846320"/>
            <a:ext cx="2011680" cy="457200"/>
          </a:xfrm>
          <a:prstGeom prst="roundRect">
            <a:avLst/>
          </a:prstGeom>
          <a:solidFill>
            <a:srgbClr val="0D2040"/>
          </a:solidFill>
          <a:ln w="12700">
            <a:solidFill>
              <a:srgbClr val="2E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EF4FB"/>
                </a:solidFill>
              </a:defRPr>
            </a:pPr>
            <a:r>
              <a:t>🔥 Commissioning</a:t>
            </a:r>
          </a:p>
        </p:txBody>
      </p:sp>
      <p:sp>
        <p:nvSpPr>
          <p:cNvPr id="9" name="Rounded Rectangle 8"/>
          <p:cNvSpPr/>
          <p:nvPr/>
        </p:nvSpPr>
        <p:spPr>
          <a:xfrm>
            <a:off x="8519007" y="4846320"/>
            <a:ext cx="2011680" cy="457200"/>
          </a:xfrm>
          <a:prstGeom prst="roundRect">
            <a:avLst/>
          </a:prstGeom>
          <a:solidFill>
            <a:srgbClr val="0D2040"/>
          </a:solidFill>
          <a:ln w="12700">
            <a:solidFill>
              <a:srgbClr val="2E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EF4FB"/>
                </a:solidFill>
              </a:defRPr>
            </a:pPr>
            <a:r>
              <a:t>🌐 Operations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0E1C"/>
        </a:solidFill>
        <a:effectLst/>
      </p:bgPr>
    </p:bg>
    <p:spTree>
      <p:nvGrpSpPr>
        <p:cNvPr id="1" name=""/>
        <p:cNvGrpSpPr/>
        <p:nvPr/>
      </p:nvGrpSpPr>
      <p:grpSpPr/>
      <p:sp>
        <p:nvSpPr>
          <p:cNvPr id="2" name="TextBox 1"/>
          <p:cNvSpPr txBox="1"/>
          <p:nvPr/>
        </p:nvSpPr>
        <p:spPr>
          <a:xfrm>
            <a:off x="457200" y="228600"/>
            <a:ext cx="2743200" cy="548640"/>
          </a:xfrm>
          <a:prstGeom prst="rect">
            <a:avLst/>
          </a:prstGeom>
          <a:noFill/>
        </p:spPr>
        <p:txBody>
          <a:bodyPr wrap="square" lIns="0" tIns="0" rIns="0" bIns="0">
            <a:spAutoFit/>
          </a:bodyPr>
          <a:lstStyle/>
          <a:p>
            <a:pPr>
              <a:defRPr sz="1300" b="1">
                <a:solidFill>
                  <a:srgbClr val="5BAAD8"/>
                </a:solidFill>
              </a:defRPr>
            </a:pPr>
            <a:r>
              <a:t>Woodfibre </a:t>
            </a:r>
            <a:r>
              <a:rPr sz="1300" b="1">
                <a:solidFill>
                  <a:srgbClr val="7DC24B"/>
                </a:solidFill>
              </a:rPr>
              <a:t>LNG</a:t>
            </a:r>
          </a:p>
        </p:txBody>
      </p:sp>
      <p:sp>
        <p:nvSpPr>
          <p:cNvPr id="3" name="TextBox 2"/>
          <p:cNvSpPr txBox="1"/>
          <p:nvPr/>
        </p:nvSpPr>
        <p:spPr>
          <a:xfrm>
            <a:off x="9448495" y="228600"/>
            <a:ext cx="2286000" cy="548640"/>
          </a:xfrm>
          <a:prstGeom prst="rect">
            <a:avLst/>
          </a:prstGeom>
          <a:noFill/>
        </p:spPr>
        <p:txBody>
          <a:bodyPr wrap="square" lIns="0" tIns="0" rIns="0" bIns="0">
            <a:spAutoFit/>
          </a:bodyPr>
          <a:lstStyle/>
          <a:p>
            <a:pPr algn="r">
              <a:defRPr sz="1300" b="1">
                <a:solidFill>
                  <a:srgbClr val="5BAAD8"/>
                </a:solidFill>
              </a:defRPr>
            </a:pPr>
            <a:r>
              <a:t>Woodfibre </a:t>
            </a:r>
            <a:r>
              <a:rPr sz="1300" b="1">
                <a:solidFill>
                  <a:srgbClr val="7DC24B"/>
                </a:solidFill>
              </a:rPr>
              <a:t>LNG</a:t>
            </a:r>
          </a:p>
        </p:txBody>
      </p:sp>
      <p:sp>
        <p:nvSpPr>
          <p:cNvPr id="4" name="TextBox 3"/>
          <p:cNvSpPr txBox="1"/>
          <p:nvPr/>
        </p:nvSpPr>
        <p:spPr>
          <a:xfrm>
            <a:off x="914400" y="822960"/>
            <a:ext cx="10362895" cy="1097280"/>
          </a:xfrm>
          <a:prstGeom prst="rect">
            <a:avLst/>
          </a:prstGeom>
          <a:noFill/>
        </p:spPr>
        <p:txBody>
          <a:bodyPr wrap="none">
            <a:spAutoFit/>
          </a:bodyPr>
          <a:lstStyle/>
          <a:p>
            <a:pPr algn="ctr">
              <a:defRPr sz="1100" b="1">
                <a:solidFill>
                  <a:srgbClr val="5BAAD8"/>
                </a:solidFill>
              </a:defRPr>
            </a:pPr>
            <a:r>
              <a:t>THE JOURNEY</a:t>
            </a:r>
          </a:p>
          <a:p>
            <a:pPr algn="ctr">
              <a:defRPr sz="3200" b="1">
                <a:solidFill>
                  <a:srgbClr val="FFFFFF"/>
                </a:solidFill>
              </a:defRPr>
            </a:pPr>
            <a:r>
              <a:t>WHERE ARE WE?</a:t>
            </a:r>
          </a:p>
        </p:txBody>
      </p:sp>
      <p:sp>
        <p:nvSpPr>
          <p:cNvPr id="5" name="Rounded Rectangle 4"/>
          <p:cNvSpPr/>
          <p:nvPr/>
        </p:nvSpPr>
        <p:spPr>
          <a:xfrm>
            <a:off x="975207" y="2194560"/>
            <a:ext cx="2286000" cy="2011680"/>
          </a:xfrm>
          <a:prstGeom prst="roundRect">
            <a:avLst/>
          </a:prstGeom>
          <a:solidFill>
            <a:srgbClr val="0D2040"/>
          </a:solidFill>
          <a:ln w="12700">
            <a:solidFill>
              <a:srgbClr val="7DC24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defRPr>
            </a:pPr>
            <a:r>
              <a:t>Construction</a:t>
            </a:r>
          </a:p>
          <a:p>
            <a:pPr algn="ctr">
              <a:spcBef>
                <a:spcPts val="800"/>
              </a:spcBef>
              <a:defRPr sz="1100" b="1">
                <a:solidFill>
                  <a:srgbClr val="7DC24B"/>
                </a:solidFill>
              </a:defRPr>
            </a:pPr>
            <a:r>
              <a:t>Completed Phase</a:t>
            </a:r>
          </a:p>
        </p:txBody>
      </p:sp>
      <p:sp>
        <p:nvSpPr>
          <p:cNvPr id="6" name="Rounded Rectangle 5"/>
          <p:cNvSpPr/>
          <p:nvPr/>
        </p:nvSpPr>
        <p:spPr>
          <a:xfrm>
            <a:off x="3626967" y="2194560"/>
            <a:ext cx="2286000" cy="2011680"/>
          </a:xfrm>
          <a:prstGeom prst="roundRect">
            <a:avLst/>
          </a:prstGeom>
          <a:solidFill>
            <a:srgbClr val="0D2040"/>
          </a:solidFill>
          <a:ln w="25400">
            <a:solidFill>
              <a:srgbClr val="2E7B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defRPr>
            </a:pPr>
            <a:r>
              <a:t>Precomm</a:t>
            </a:r>
          </a:p>
          <a:p>
            <a:pPr algn="ctr">
              <a:spcBef>
                <a:spcPts val="800"/>
              </a:spcBef>
              <a:defRPr sz="1100" b="1">
                <a:solidFill>
                  <a:srgbClr val="2E7BC4"/>
                </a:solidFill>
              </a:defRPr>
            </a:pPr>
            <a:r>
              <a:t>YOU ARE HERE</a:t>
            </a:r>
          </a:p>
        </p:txBody>
      </p:sp>
      <p:sp>
        <p:nvSpPr>
          <p:cNvPr id="7" name="Rounded Rectangle 6"/>
          <p:cNvSpPr/>
          <p:nvPr/>
        </p:nvSpPr>
        <p:spPr>
          <a:xfrm>
            <a:off x="6278727" y="2194560"/>
            <a:ext cx="2286000" cy="2011680"/>
          </a:xfrm>
          <a:prstGeom prst="roundRect">
            <a:avLst/>
          </a:prstGeom>
          <a:solidFill>
            <a:srgbClr val="0D2040"/>
          </a:solidFill>
          <a:ln w="12700">
            <a:solidFill>
              <a:srgbClr val="7FA8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defRPr>
            </a:pPr>
            <a:r>
              <a:t>Commissioning</a:t>
            </a:r>
          </a:p>
          <a:p>
            <a:pPr algn="ctr">
              <a:spcBef>
                <a:spcPts val="800"/>
              </a:spcBef>
              <a:defRPr sz="1100" b="1">
                <a:solidFill>
                  <a:srgbClr val="7FA8CC"/>
                </a:solidFill>
              </a:defRPr>
            </a:pPr>
            <a:r>
              <a:t>Upcoming Phase</a:t>
            </a:r>
          </a:p>
        </p:txBody>
      </p:sp>
      <p:sp>
        <p:nvSpPr>
          <p:cNvPr id="8" name="Rounded Rectangle 7"/>
          <p:cNvSpPr/>
          <p:nvPr/>
        </p:nvSpPr>
        <p:spPr>
          <a:xfrm>
            <a:off x="8930487" y="2194560"/>
            <a:ext cx="2286000" cy="2011680"/>
          </a:xfrm>
          <a:prstGeom prst="roundRect">
            <a:avLst/>
          </a:prstGeom>
          <a:solidFill>
            <a:srgbClr val="0D2040"/>
          </a:solidFill>
          <a:ln w="12700">
            <a:solidFill>
              <a:srgbClr val="7FA8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defRPr>
            </a:pPr>
            <a:r>
              <a:t>Operations</a:t>
            </a:r>
          </a:p>
          <a:p>
            <a:pPr algn="ctr">
              <a:spcBef>
                <a:spcPts val="800"/>
              </a:spcBef>
              <a:defRPr sz="1100" b="1">
                <a:solidFill>
                  <a:srgbClr val="7FA8CC"/>
                </a:solidFill>
              </a:defRPr>
            </a:pPr>
            <a:r>
              <a:t>Target Goal</a:t>
            </a:r>
          </a:p>
        </p:txBody>
      </p:sp>
      <p:sp>
        <p:nvSpPr>
          <p:cNvPr id="9" name="Rounded Rectangle 8"/>
          <p:cNvSpPr/>
          <p:nvPr/>
        </p:nvSpPr>
        <p:spPr>
          <a:xfrm>
            <a:off x="1828800" y="4663440"/>
            <a:ext cx="8534095" cy="1188720"/>
          </a:xfrm>
          <a:prstGeom prst="roundRect">
            <a:avLst/>
          </a:prstGeom>
          <a:solidFill>
            <a:srgbClr val="0D2040"/>
          </a:solidFill>
          <a:ln>
            <a:solidFill>
              <a:srgbClr val="2E7B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EEF4FB"/>
                </a:solidFill>
              </a:defRPr>
            </a:pPr>
            <a:r>
              <a:t>We are crossing a threshold. The hazards on this site change every single day. A system that was safe to work on yesterday may be energized, pressurized, or live with gas tomorrow.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0E1C"/>
        </a:solidFill>
        <a:effectLst/>
      </p:bgPr>
    </p:bg>
    <p:spTree>
      <p:nvGrpSpPr>
        <p:cNvPr id="1" name=""/>
        <p:cNvGrpSpPr/>
        <p:nvPr/>
      </p:nvGrpSpPr>
      <p:grpSpPr/>
      <p:sp>
        <p:nvSpPr>
          <p:cNvPr id="2" name="TextBox 1"/>
          <p:cNvSpPr txBox="1"/>
          <p:nvPr/>
        </p:nvSpPr>
        <p:spPr>
          <a:xfrm>
            <a:off x="457200" y="228600"/>
            <a:ext cx="2743200" cy="548640"/>
          </a:xfrm>
          <a:prstGeom prst="rect">
            <a:avLst/>
          </a:prstGeom>
          <a:noFill/>
        </p:spPr>
        <p:txBody>
          <a:bodyPr wrap="square" lIns="0" tIns="0" rIns="0" bIns="0">
            <a:spAutoFit/>
          </a:bodyPr>
          <a:lstStyle/>
          <a:p>
            <a:pPr>
              <a:defRPr sz="1300" b="1">
                <a:solidFill>
                  <a:srgbClr val="5BAAD8"/>
                </a:solidFill>
              </a:defRPr>
            </a:pPr>
            <a:r>
              <a:t>Woodfibre </a:t>
            </a:r>
            <a:r>
              <a:rPr sz="1300" b="1">
                <a:solidFill>
                  <a:srgbClr val="7DC24B"/>
                </a:solidFill>
              </a:rPr>
              <a:t>LNG</a:t>
            </a:r>
          </a:p>
        </p:txBody>
      </p:sp>
      <p:sp>
        <p:nvSpPr>
          <p:cNvPr id="3" name="TextBox 2"/>
          <p:cNvSpPr txBox="1"/>
          <p:nvPr/>
        </p:nvSpPr>
        <p:spPr>
          <a:xfrm>
            <a:off x="9448495" y="228600"/>
            <a:ext cx="2286000" cy="548640"/>
          </a:xfrm>
          <a:prstGeom prst="rect">
            <a:avLst/>
          </a:prstGeom>
          <a:noFill/>
        </p:spPr>
        <p:txBody>
          <a:bodyPr wrap="square" lIns="0" tIns="0" rIns="0" bIns="0">
            <a:spAutoFit/>
          </a:bodyPr>
          <a:lstStyle/>
          <a:p>
            <a:pPr algn="r">
              <a:defRPr sz="1300" b="1">
                <a:solidFill>
                  <a:srgbClr val="5BAAD8"/>
                </a:solidFill>
              </a:defRPr>
            </a:pPr>
            <a:r>
              <a:t>Woodfibre </a:t>
            </a:r>
            <a:r>
              <a:rPr sz="1300" b="1">
                <a:solidFill>
                  <a:srgbClr val="7DC24B"/>
                </a:solidFill>
              </a:rPr>
              <a:t>LNG</a:t>
            </a:r>
          </a:p>
        </p:txBody>
      </p:sp>
      <p:sp>
        <p:nvSpPr>
          <p:cNvPr id="4" name="TextBox 3"/>
          <p:cNvSpPr txBox="1"/>
          <p:nvPr/>
        </p:nvSpPr>
        <p:spPr>
          <a:xfrm>
            <a:off x="914400" y="822960"/>
            <a:ext cx="10362895" cy="1097280"/>
          </a:xfrm>
          <a:prstGeom prst="rect">
            <a:avLst/>
          </a:prstGeom>
          <a:noFill/>
        </p:spPr>
        <p:txBody>
          <a:bodyPr wrap="none">
            <a:spAutoFit/>
          </a:bodyPr>
          <a:lstStyle/>
          <a:p>
            <a:pPr algn="ctr">
              <a:defRPr sz="1100" b="1">
                <a:solidFill>
                  <a:srgbClr val="5BAAD8"/>
                </a:solidFill>
              </a:defRPr>
            </a:pPr>
            <a:r>
              <a:t>THE OFFICIAL DEFINITION</a:t>
            </a:r>
          </a:p>
          <a:p>
            <a:pPr algn="ctr">
              <a:defRPr sz="3000" b="1">
                <a:solidFill>
                  <a:srgbClr val="FFFFFF"/>
                </a:solidFill>
              </a:defRPr>
            </a:pPr>
            <a:r>
              <a:t>WHAT IS SAFETY IN TRANSITION?</a:t>
            </a:r>
          </a:p>
        </p:txBody>
      </p:sp>
      <p:sp>
        <p:nvSpPr>
          <p:cNvPr id="5" name="Rounded Rectangle 4"/>
          <p:cNvSpPr/>
          <p:nvPr/>
        </p:nvSpPr>
        <p:spPr>
          <a:xfrm>
            <a:off x="1645920" y="2103120"/>
            <a:ext cx="8899855" cy="2560320"/>
          </a:xfrm>
          <a:prstGeom prst="roundRect">
            <a:avLst/>
          </a:prstGeom>
          <a:solidFill>
            <a:srgbClr val="0D2040"/>
          </a:solidFill>
          <a:ln w="19050">
            <a:solidFill>
              <a:srgbClr val="2E7B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a:solidFill>
                  <a:srgbClr val="EEF4FB"/>
                </a:solidFill>
              </a:defRPr>
            </a:pPr>
            <a:r>
              <a:t>"The methodical transition of systems, equipment, and personnel from one phase of facility development to the next — ensuring that hazard controls, competencies, procedures, and accountability structures keep pace with the evolving risk profile of the facility at every stage."</a:t>
            </a:r>
          </a:p>
        </p:txBody>
      </p:sp>
      <p:sp>
        <p:nvSpPr>
          <p:cNvPr id="6" name="Rounded Rectangle 5"/>
          <p:cNvSpPr/>
          <p:nvPr/>
        </p:nvSpPr>
        <p:spPr>
          <a:xfrm>
            <a:off x="2286000" y="4937760"/>
            <a:ext cx="7619695" cy="822960"/>
          </a:xfrm>
          <a:prstGeom prst="roundRect">
            <a:avLst/>
          </a:prstGeom>
          <a:solidFill>
            <a:srgbClr val="1A5096"/>
          </a:solidFill>
          <a:ln>
            <a:solidFill>
              <a:srgbClr val="5BA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  The rules of the game are changing. If we don't change with them — people get hurt.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E1C"/>
        </a:solidFill>
        <a:effectLst/>
      </p:bgPr>
    </p:bg>
    <p:spTree>
      <p:nvGrpSpPr>
        <p:cNvPr id="1" name=""/>
        <p:cNvGrpSpPr/>
        <p:nvPr/>
      </p:nvGrpSpPr>
      <p:grpSpPr/>
      <p:sp>
        <p:nvSpPr>
          <p:cNvPr id="2" name="TextBox 1"/>
          <p:cNvSpPr txBox="1"/>
          <p:nvPr/>
        </p:nvSpPr>
        <p:spPr>
          <a:xfrm>
            <a:off x="457200" y="228600"/>
            <a:ext cx="2743200" cy="548640"/>
          </a:xfrm>
          <a:prstGeom prst="rect">
            <a:avLst/>
          </a:prstGeom>
          <a:noFill/>
        </p:spPr>
        <p:txBody>
          <a:bodyPr wrap="square" lIns="0" tIns="0" rIns="0" bIns="0">
            <a:spAutoFit/>
          </a:bodyPr>
          <a:lstStyle/>
          <a:p>
            <a:pPr>
              <a:defRPr sz="1300" b="1">
                <a:solidFill>
                  <a:srgbClr val="5BAAD8"/>
                </a:solidFill>
              </a:defRPr>
            </a:pPr>
            <a:r>
              <a:t>Woodfibre </a:t>
            </a:r>
            <a:r>
              <a:rPr sz="1300" b="1">
                <a:solidFill>
                  <a:srgbClr val="7DC24B"/>
                </a:solidFill>
              </a:rPr>
              <a:t>LNG</a:t>
            </a:r>
          </a:p>
        </p:txBody>
      </p:sp>
      <p:sp>
        <p:nvSpPr>
          <p:cNvPr id="3" name="TextBox 2"/>
          <p:cNvSpPr txBox="1"/>
          <p:nvPr/>
        </p:nvSpPr>
        <p:spPr>
          <a:xfrm>
            <a:off x="9448495" y="228600"/>
            <a:ext cx="2286000" cy="548640"/>
          </a:xfrm>
          <a:prstGeom prst="rect">
            <a:avLst/>
          </a:prstGeom>
          <a:noFill/>
        </p:spPr>
        <p:txBody>
          <a:bodyPr wrap="square" lIns="0" tIns="0" rIns="0" bIns="0">
            <a:spAutoFit/>
          </a:bodyPr>
          <a:lstStyle/>
          <a:p>
            <a:pPr algn="r">
              <a:defRPr sz="1300" b="1">
                <a:solidFill>
                  <a:srgbClr val="5BAAD8"/>
                </a:solidFill>
              </a:defRPr>
            </a:pPr>
            <a:r>
              <a:t>Woodfibre </a:t>
            </a:r>
            <a:r>
              <a:rPr sz="1300" b="1">
                <a:solidFill>
                  <a:srgbClr val="7DC24B"/>
                </a:solidFill>
              </a:rPr>
              <a:t>LNG</a:t>
            </a:r>
          </a:p>
        </p:txBody>
      </p:sp>
      <p:sp>
        <p:nvSpPr>
          <p:cNvPr id="4" name="TextBox 3"/>
          <p:cNvSpPr txBox="1"/>
          <p:nvPr/>
        </p:nvSpPr>
        <p:spPr>
          <a:xfrm>
            <a:off x="914400" y="822960"/>
            <a:ext cx="10362895" cy="1828800"/>
          </a:xfrm>
          <a:prstGeom prst="rect">
            <a:avLst/>
          </a:prstGeom>
          <a:noFill/>
        </p:spPr>
        <p:txBody>
          <a:bodyPr wrap="none">
            <a:spAutoFit/>
          </a:bodyPr>
          <a:lstStyle/>
          <a:p>
            <a:pPr algn="ctr">
              <a:defRPr sz="1100" b="1">
                <a:solidFill>
                  <a:srgbClr val="5BAAD8"/>
                </a:solidFill>
              </a:defRPr>
            </a:pPr>
            <a:r>
              <a:t>PILLAR 01 OF 05</a:t>
            </a:r>
          </a:p>
          <a:p>
            <a:pPr algn="ctr">
              <a:defRPr sz="4000" b="1">
                <a:solidFill>
                  <a:srgbClr val="FFFFFF"/>
                </a:solidFill>
              </a:defRPr>
            </a:pPr>
            <a:r>
              <a:t>COMMUNICATION</a:t>
            </a:r>
          </a:p>
          <a:p>
            <a:pPr algn="ctr">
              <a:spcBef>
                <a:spcPts val="400"/>
              </a:spcBef>
              <a:defRPr sz="1400" i="1">
                <a:solidFill>
                  <a:srgbClr val="7DC24B"/>
                </a:solidFill>
              </a:defRPr>
            </a:pPr>
            <a:r>
              <a:t>"Before that system goes live — does everyone know?"</a:t>
            </a:r>
          </a:p>
        </p:txBody>
      </p:sp>
      <p:sp>
        <p:nvSpPr>
          <p:cNvPr id="5" name="Rounded Rectangle 4"/>
          <p:cNvSpPr/>
          <p:nvPr/>
        </p:nvSpPr>
        <p:spPr>
          <a:xfrm>
            <a:off x="2011680" y="2834640"/>
            <a:ext cx="8168335" cy="2011680"/>
          </a:xfrm>
          <a:prstGeom prst="roundRect">
            <a:avLst/>
          </a:prstGeom>
          <a:solidFill>
            <a:srgbClr val="0D2040"/>
          </a:solidFill>
          <a:ln>
            <a:solidFill>
              <a:srgbClr val="2E7B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EEF4FB"/>
                </a:solidFill>
              </a:defRPr>
            </a:pPr>
            <a:r>
              <a:t>In transition, one crew hands systems to another. Construction to precomm. Precomm to commissioning. Commissioning to operations. Every handover is a moment where information can fall through the cracks — and in this industry, a gap in communication can cost someone their life.</a:t>
            </a:r>
          </a:p>
        </p:txBody>
      </p:sp>
      <p:sp>
        <p:nvSpPr>
          <p:cNvPr id="6" name="Rounded Rectangle 5"/>
          <p:cNvSpPr/>
          <p:nvPr/>
        </p:nvSpPr>
        <p:spPr>
          <a:xfrm>
            <a:off x="2560320" y="5120640"/>
            <a:ext cx="7071055" cy="731520"/>
          </a:xfrm>
          <a:prstGeom prst="roundRect">
            <a:avLst/>
          </a:prstGeom>
          <a:solidFill>
            <a:srgbClr val="0D2040"/>
          </a:solidFill>
          <a:ln w="19050">
            <a:solidFill>
              <a:srgbClr val="5BA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5BAAD8"/>
                </a:solidFill>
              </a:defRPr>
            </a:pPr>
            <a:r>
              <a:t>If you're not sure — ask. If the answer isn't clear — stop 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0E1C"/>
        </a:solidFill>
        <a:effectLst/>
      </p:bgPr>
    </p:bg>
    <p:spTree>
      <p:nvGrpSpPr>
        <p:cNvPr id="1" name=""/>
        <p:cNvGrpSpPr/>
        <p:nvPr/>
      </p:nvGrpSpPr>
      <p:grpSpPr/>
      <p:sp>
        <p:nvSpPr>
          <p:cNvPr id="2" name="TextBox 1"/>
          <p:cNvSpPr txBox="1"/>
          <p:nvPr/>
        </p:nvSpPr>
        <p:spPr>
          <a:xfrm>
            <a:off x="457200" y="228600"/>
            <a:ext cx="2743200" cy="548640"/>
          </a:xfrm>
          <a:prstGeom prst="rect">
            <a:avLst/>
          </a:prstGeom>
          <a:noFill/>
        </p:spPr>
        <p:txBody>
          <a:bodyPr wrap="square" lIns="0" tIns="0" rIns="0" bIns="0">
            <a:spAutoFit/>
          </a:bodyPr>
          <a:lstStyle/>
          <a:p>
            <a:pPr>
              <a:defRPr sz="1300" b="1">
                <a:solidFill>
                  <a:srgbClr val="5BAAD8"/>
                </a:solidFill>
              </a:defRPr>
            </a:pPr>
            <a:r>
              <a:t>Woodfibre </a:t>
            </a:r>
            <a:r>
              <a:rPr sz="1300" b="1">
                <a:solidFill>
                  <a:srgbClr val="7DC24B"/>
                </a:solidFill>
              </a:rPr>
              <a:t>LNG</a:t>
            </a:r>
          </a:p>
        </p:txBody>
      </p:sp>
      <p:sp>
        <p:nvSpPr>
          <p:cNvPr id="3" name="TextBox 2"/>
          <p:cNvSpPr txBox="1"/>
          <p:nvPr/>
        </p:nvSpPr>
        <p:spPr>
          <a:xfrm>
            <a:off x="9448495" y="228600"/>
            <a:ext cx="2286000" cy="548640"/>
          </a:xfrm>
          <a:prstGeom prst="rect">
            <a:avLst/>
          </a:prstGeom>
          <a:noFill/>
        </p:spPr>
        <p:txBody>
          <a:bodyPr wrap="square" lIns="0" tIns="0" rIns="0" bIns="0">
            <a:spAutoFit/>
          </a:bodyPr>
          <a:lstStyle/>
          <a:p>
            <a:pPr algn="r">
              <a:defRPr sz="1300" b="1">
                <a:solidFill>
                  <a:srgbClr val="5BAAD8"/>
                </a:solidFill>
              </a:defRPr>
            </a:pPr>
            <a:r>
              <a:t>Woodfibre </a:t>
            </a:r>
            <a:r>
              <a:rPr sz="1300" b="1">
                <a:solidFill>
                  <a:srgbClr val="7DC24B"/>
                </a:solidFill>
              </a:rPr>
              <a:t>LNG</a:t>
            </a:r>
          </a:p>
        </p:txBody>
      </p:sp>
      <p:sp>
        <p:nvSpPr>
          <p:cNvPr id="4" name="TextBox 3"/>
          <p:cNvSpPr txBox="1"/>
          <p:nvPr/>
        </p:nvSpPr>
        <p:spPr>
          <a:xfrm>
            <a:off x="914400" y="822960"/>
            <a:ext cx="10362895" cy="1828800"/>
          </a:xfrm>
          <a:prstGeom prst="rect">
            <a:avLst/>
          </a:prstGeom>
          <a:noFill/>
        </p:spPr>
        <p:txBody>
          <a:bodyPr wrap="none">
            <a:spAutoFit/>
          </a:bodyPr>
          <a:lstStyle/>
          <a:p>
            <a:pPr algn="ctr">
              <a:defRPr sz="1100" b="1">
                <a:solidFill>
                  <a:srgbClr val="7DC24B"/>
                </a:solidFill>
              </a:defRPr>
            </a:pPr>
            <a:r>
              <a:t>PILLAR 02 OF 05</a:t>
            </a:r>
          </a:p>
          <a:p>
            <a:pPr algn="ctr">
              <a:defRPr sz="4000" b="1">
                <a:solidFill>
                  <a:srgbClr val="FFFFFF"/>
                </a:solidFill>
              </a:defRPr>
            </a:pPr>
            <a:r>
              <a:t>COOPERATION</a:t>
            </a:r>
          </a:p>
          <a:p>
            <a:pPr algn="ctr">
              <a:spcBef>
                <a:spcPts val="400"/>
              </a:spcBef>
              <a:defRPr sz="1400" i="1">
                <a:solidFill>
                  <a:srgbClr val="5BAAD8"/>
                </a:solidFill>
              </a:defRPr>
            </a:pPr>
            <a:r>
              <a:t>"Construction, Precomm, Commissioning, Ops — one team."</a:t>
            </a:r>
          </a:p>
        </p:txBody>
      </p:sp>
      <p:sp>
        <p:nvSpPr>
          <p:cNvPr id="5" name="Rounded Rectangle 4"/>
          <p:cNvSpPr/>
          <p:nvPr/>
        </p:nvSpPr>
        <p:spPr>
          <a:xfrm>
            <a:off x="2011680" y="2834640"/>
            <a:ext cx="8168335" cy="2011680"/>
          </a:xfrm>
          <a:prstGeom prst="roundRect">
            <a:avLst/>
          </a:prstGeom>
          <a:solidFill>
            <a:srgbClr val="0D2040"/>
          </a:solidFill>
          <a:ln>
            <a:solidFill>
              <a:srgbClr val="2E7B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EEF4FB"/>
                </a:solidFill>
              </a:defRPr>
            </a:pPr>
            <a:r>
              <a:t>Multiple disciplines. Multiple contractors. Multiple crews. All working in the same space, on overlapping scopes, at the same time. Cooperation means we look out for each other across the boundaries. If you see something wrong — even in someone else's area — you say something.</a:t>
            </a:r>
          </a:p>
        </p:txBody>
      </p:sp>
      <p:sp>
        <p:nvSpPr>
          <p:cNvPr id="6" name="Rounded Rectangle 5"/>
          <p:cNvSpPr/>
          <p:nvPr/>
        </p:nvSpPr>
        <p:spPr>
          <a:xfrm>
            <a:off x="2560320" y="5120640"/>
            <a:ext cx="7071055" cy="731520"/>
          </a:xfrm>
          <a:prstGeom prst="roundRect">
            <a:avLst/>
          </a:prstGeom>
          <a:solidFill>
            <a:srgbClr val="0D2040"/>
          </a:solidFill>
          <a:ln w="19050">
            <a:solidFill>
              <a:srgbClr val="7D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7DC24B"/>
                </a:solidFill>
              </a:defRPr>
            </a:pPr>
            <a:r>
              <a:t>One team. One site. One outcome.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50E1C"/>
        </a:solidFill>
        <a:effectLst/>
      </p:bgPr>
    </p:bg>
    <p:spTree>
      <p:nvGrpSpPr>
        <p:cNvPr id="1" name=""/>
        <p:cNvGrpSpPr/>
        <p:nvPr/>
      </p:nvGrpSpPr>
      <p:grpSpPr/>
      <p:sp>
        <p:nvSpPr>
          <p:cNvPr id="2" name="TextBox 1"/>
          <p:cNvSpPr txBox="1"/>
          <p:nvPr/>
        </p:nvSpPr>
        <p:spPr>
          <a:xfrm>
            <a:off x="457200" y="228600"/>
            <a:ext cx="2743200" cy="548640"/>
          </a:xfrm>
          <a:prstGeom prst="rect">
            <a:avLst/>
          </a:prstGeom>
          <a:noFill/>
        </p:spPr>
        <p:txBody>
          <a:bodyPr wrap="square" lIns="0" tIns="0" rIns="0" bIns="0">
            <a:spAutoFit/>
          </a:bodyPr>
          <a:lstStyle/>
          <a:p>
            <a:pPr>
              <a:defRPr sz="1300" b="1">
                <a:solidFill>
                  <a:srgbClr val="5BAAD8"/>
                </a:solidFill>
              </a:defRPr>
            </a:pPr>
            <a:r>
              <a:t>Woodfibre </a:t>
            </a:r>
            <a:r>
              <a:rPr sz="1300" b="1">
                <a:solidFill>
                  <a:srgbClr val="7DC24B"/>
                </a:solidFill>
              </a:rPr>
              <a:t>LNG</a:t>
            </a:r>
          </a:p>
        </p:txBody>
      </p:sp>
      <p:sp>
        <p:nvSpPr>
          <p:cNvPr id="3" name="TextBox 2"/>
          <p:cNvSpPr txBox="1"/>
          <p:nvPr/>
        </p:nvSpPr>
        <p:spPr>
          <a:xfrm>
            <a:off x="9448495" y="228600"/>
            <a:ext cx="2286000" cy="548640"/>
          </a:xfrm>
          <a:prstGeom prst="rect">
            <a:avLst/>
          </a:prstGeom>
          <a:noFill/>
        </p:spPr>
        <p:txBody>
          <a:bodyPr wrap="square" lIns="0" tIns="0" rIns="0" bIns="0">
            <a:spAutoFit/>
          </a:bodyPr>
          <a:lstStyle/>
          <a:p>
            <a:pPr algn="r">
              <a:defRPr sz="1300" b="1">
                <a:solidFill>
                  <a:srgbClr val="5BAAD8"/>
                </a:solidFill>
              </a:defRPr>
            </a:pPr>
            <a:r>
              <a:t>Woodfibre </a:t>
            </a:r>
            <a:r>
              <a:rPr sz="1300" b="1">
                <a:solidFill>
                  <a:srgbClr val="7DC24B"/>
                </a:solidFill>
              </a:rPr>
              <a:t>LNG</a:t>
            </a:r>
          </a:p>
        </p:txBody>
      </p:sp>
      <p:sp>
        <p:nvSpPr>
          <p:cNvPr id="4" name="TextBox 3"/>
          <p:cNvSpPr txBox="1"/>
          <p:nvPr/>
        </p:nvSpPr>
        <p:spPr>
          <a:xfrm>
            <a:off x="914400" y="822960"/>
            <a:ext cx="10362895" cy="1828800"/>
          </a:xfrm>
          <a:prstGeom prst="rect">
            <a:avLst/>
          </a:prstGeom>
          <a:noFill/>
        </p:spPr>
        <p:txBody>
          <a:bodyPr wrap="none">
            <a:spAutoFit/>
          </a:bodyPr>
          <a:lstStyle/>
          <a:p>
            <a:pPr algn="ctr">
              <a:defRPr sz="1100" b="1">
                <a:solidFill>
                  <a:srgbClr val="2E7BC4"/>
                </a:solidFill>
              </a:defRPr>
            </a:pPr>
            <a:r>
              <a:t>PILLAR 03 OF 05</a:t>
            </a:r>
          </a:p>
          <a:p>
            <a:pPr algn="ctr">
              <a:defRPr sz="4000" b="1">
                <a:solidFill>
                  <a:srgbClr val="FFFFFF"/>
                </a:solidFill>
              </a:defRPr>
            </a:pPr>
            <a:r>
              <a:t>VIGILANCE</a:t>
            </a:r>
          </a:p>
          <a:p>
            <a:pPr algn="ctr">
              <a:spcBef>
                <a:spcPts val="400"/>
              </a:spcBef>
              <a:defRPr sz="1400" i="1">
                <a:solidFill>
                  <a:srgbClr val="5BAAD8"/>
                </a:solidFill>
              </a:defRPr>
            </a:pPr>
            <a:r>
              <a:t>"The hazard landscape changes every day. So must your awareness."</a:t>
            </a:r>
          </a:p>
        </p:txBody>
      </p:sp>
      <p:sp>
        <p:nvSpPr>
          <p:cNvPr id="5" name="Rounded Rectangle 4"/>
          <p:cNvSpPr/>
          <p:nvPr/>
        </p:nvSpPr>
        <p:spPr>
          <a:xfrm>
            <a:off x="2011680" y="2834640"/>
            <a:ext cx="8168335" cy="2011680"/>
          </a:xfrm>
          <a:prstGeom prst="roundRect">
            <a:avLst/>
          </a:prstGeom>
          <a:solidFill>
            <a:srgbClr val="0D2040"/>
          </a:solidFill>
          <a:ln>
            <a:solidFill>
              <a:srgbClr val="2E7B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EEF4FB"/>
                </a:solidFill>
              </a:defRPr>
            </a:pPr>
            <a:r>
              <a:t>Electrical systems are being energized. Pressurized systems are being tested. Hydrocarbons will enter this facility. New exclusion zones. New energy isolations. New permit requirements. You cannot walk onto this site and assume yesterday's conditions still apply.</a:t>
            </a:r>
          </a:p>
        </p:txBody>
      </p:sp>
      <p:sp>
        <p:nvSpPr>
          <p:cNvPr id="6" name="Rounded Rectangle 5"/>
          <p:cNvSpPr/>
          <p:nvPr/>
        </p:nvSpPr>
        <p:spPr>
          <a:xfrm>
            <a:off x="2560320" y="5120640"/>
            <a:ext cx="7071055" cy="731520"/>
          </a:xfrm>
          <a:prstGeom prst="roundRect">
            <a:avLst/>
          </a:prstGeom>
          <a:solidFill>
            <a:srgbClr val="0D2040"/>
          </a:solidFill>
          <a:ln w="19050">
            <a:solidFill>
              <a:srgbClr val="2E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E7BC4"/>
                </a:solidFill>
              </a:defRPr>
            </a:pPr>
            <a:r>
              <a:t>Never assume. Always verify.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0E1C"/>
        </a:solidFill>
        <a:effectLst/>
      </p:bgPr>
    </p:bg>
    <p:spTree>
      <p:nvGrpSpPr>
        <p:cNvPr id="1" name=""/>
        <p:cNvGrpSpPr/>
        <p:nvPr/>
      </p:nvGrpSpPr>
      <p:grpSpPr/>
      <p:sp>
        <p:nvSpPr>
          <p:cNvPr id="2" name="TextBox 1"/>
          <p:cNvSpPr txBox="1"/>
          <p:nvPr/>
        </p:nvSpPr>
        <p:spPr>
          <a:xfrm>
            <a:off x="457200" y="228600"/>
            <a:ext cx="2743200" cy="548640"/>
          </a:xfrm>
          <a:prstGeom prst="rect">
            <a:avLst/>
          </a:prstGeom>
          <a:noFill/>
        </p:spPr>
        <p:txBody>
          <a:bodyPr wrap="square" lIns="0" tIns="0" rIns="0" bIns="0">
            <a:spAutoFit/>
          </a:bodyPr>
          <a:lstStyle/>
          <a:p>
            <a:pPr>
              <a:defRPr sz="1300" b="1">
                <a:solidFill>
                  <a:srgbClr val="5BAAD8"/>
                </a:solidFill>
              </a:defRPr>
            </a:pPr>
            <a:r>
              <a:t>Woodfibre </a:t>
            </a:r>
            <a:r>
              <a:rPr sz="1300" b="1">
                <a:solidFill>
                  <a:srgbClr val="7DC24B"/>
                </a:solidFill>
              </a:rPr>
              <a:t>LNG</a:t>
            </a:r>
          </a:p>
        </p:txBody>
      </p:sp>
      <p:sp>
        <p:nvSpPr>
          <p:cNvPr id="3" name="TextBox 2"/>
          <p:cNvSpPr txBox="1"/>
          <p:nvPr/>
        </p:nvSpPr>
        <p:spPr>
          <a:xfrm>
            <a:off x="9448495" y="228600"/>
            <a:ext cx="2286000" cy="548640"/>
          </a:xfrm>
          <a:prstGeom prst="rect">
            <a:avLst/>
          </a:prstGeom>
          <a:noFill/>
        </p:spPr>
        <p:txBody>
          <a:bodyPr wrap="square" lIns="0" tIns="0" rIns="0" bIns="0">
            <a:spAutoFit/>
          </a:bodyPr>
          <a:lstStyle/>
          <a:p>
            <a:pPr algn="r">
              <a:defRPr sz="1300" b="1">
                <a:solidFill>
                  <a:srgbClr val="5BAAD8"/>
                </a:solidFill>
              </a:defRPr>
            </a:pPr>
            <a:r>
              <a:t>Woodfibre </a:t>
            </a:r>
            <a:r>
              <a:rPr sz="1300" b="1">
                <a:solidFill>
                  <a:srgbClr val="7DC24B"/>
                </a:solidFill>
              </a:rPr>
              <a:t>LNG</a:t>
            </a:r>
          </a:p>
        </p:txBody>
      </p:sp>
      <p:sp>
        <p:nvSpPr>
          <p:cNvPr id="4" name="TextBox 3"/>
          <p:cNvSpPr txBox="1"/>
          <p:nvPr/>
        </p:nvSpPr>
        <p:spPr>
          <a:xfrm>
            <a:off x="914400" y="822960"/>
            <a:ext cx="10362895" cy="1828800"/>
          </a:xfrm>
          <a:prstGeom prst="rect">
            <a:avLst/>
          </a:prstGeom>
          <a:noFill/>
        </p:spPr>
        <p:txBody>
          <a:bodyPr wrap="none">
            <a:spAutoFit/>
          </a:bodyPr>
          <a:lstStyle/>
          <a:p>
            <a:pPr algn="ctr">
              <a:defRPr sz="1100" b="1">
                <a:solidFill>
                  <a:srgbClr val="EAA028"/>
                </a:solidFill>
              </a:defRPr>
            </a:pPr>
            <a:r>
              <a:t>PILLAR 04 OF 05</a:t>
            </a:r>
          </a:p>
          <a:p>
            <a:pPr algn="ctr">
              <a:defRPr sz="4000" b="1">
                <a:solidFill>
                  <a:srgbClr val="FFFFFF"/>
                </a:solidFill>
              </a:defRPr>
            </a:pPr>
            <a:r>
              <a:t>DISCIPLINE</a:t>
            </a:r>
          </a:p>
          <a:p>
            <a:pPr algn="ctr">
              <a:spcBef>
                <a:spcPts val="400"/>
              </a:spcBef>
              <a:defRPr sz="1400" i="1">
                <a:solidFill>
                  <a:srgbClr val="5BAAD8"/>
                </a:solidFill>
              </a:defRPr>
            </a:pPr>
            <a:r>
              <a:t>"The pressure will be on. The procedure still applies."</a:t>
            </a:r>
          </a:p>
        </p:txBody>
      </p:sp>
      <p:sp>
        <p:nvSpPr>
          <p:cNvPr id="5" name="Rounded Rectangle 4"/>
          <p:cNvSpPr/>
          <p:nvPr/>
        </p:nvSpPr>
        <p:spPr>
          <a:xfrm>
            <a:off x="2011680" y="2834640"/>
            <a:ext cx="8168335" cy="2011680"/>
          </a:xfrm>
          <a:prstGeom prst="roundRect">
            <a:avLst/>
          </a:prstGeom>
          <a:solidFill>
            <a:srgbClr val="0D2040"/>
          </a:solidFill>
          <a:ln>
            <a:solidFill>
              <a:srgbClr val="2E7B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EEF4FB"/>
                </a:solidFill>
              </a:defRPr>
            </a:pPr>
            <a:r>
              <a:t>As we move toward first gas, the schedule pressure builds. Milestones are tracked. Every day of delay is visible. The push to move fast will be real. Your discipline is your armour against that pressure. Follow the permit process. Complete the hazard assessment. Verify the isolation — every time.</a:t>
            </a:r>
          </a:p>
        </p:txBody>
      </p:sp>
      <p:sp>
        <p:nvSpPr>
          <p:cNvPr id="6" name="Rounded Rectangle 5"/>
          <p:cNvSpPr/>
          <p:nvPr/>
        </p:nvSpPr>
        <p:spPr>
          <a:xfrm>
            <a:off x="2560320" y="5120640"/>
            <a:ext cx="7071055" cy="731520"/>
          </a:xfrm>
          <a:prstGeom prst="roundRect">
            <a:avLst/>
          </a:prstGeom>
          <a:solidFill>
            <a:srgbClr val="0D2040"/>
          </a:solidFill>
          <a:ln w="19050">
            <a:solidFill>
              <a:srgbClr val="EAA02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EAA028"/>
                </a:solidFill>
              </a:defRPr>
            </a:pPr>
            <a:r>
              <a:t>Shortcuts in transition are how serious incidents happen.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50E1C"/>
        </a:solidFill>
        <a:effectLst/>
      </p:bgPr>
    </p:bg>
    <p:spTree>
      <p:nvGrpSpPr>
        <p:cNvPr id="1" name=""/>
        <p:cNvGrpSpPr/>
        <p:nvPr/>
      </p:nvGrpSpPr>
      <p:grpSpPr/>
      <p:sp>
        <p:nvSpPr>
          <p:cNvPr id="2" name="TextBox 1"/>
          <p:cNvSpPr txBox="1"/>
          <p:nvPr/>
        </p:nvSpPr>
        <p:spPr>
          <a:xfrm>
            <a:off x="457200" y="228600"/>
            <a:ext cx="2743200" cy="548640"/>
          </a:xfrm>
          <a:prstGeom prst="rect">
            <a:avLst/>
          </a:prstGeom>
          <a:noFill/>
        </p:spPr>
        <p:txBody>
          <a:bodyPr wrap="square" lIns="0" tIns="0" rIns="0" bIns="0">
            <a:spAutoFit/>
          </a:bodyPr>
          <a:lstStyle/>
          <a:p>
            <a:pPr>
              <a:defRPr sz="1300" b="1">
                <a:solidFill>
                  <a:srgbClr val="5BAAD8"/>
                </a:solidFill>
              </a:defRPr>
            </a:pPr>
            <a:r>
              <a:t>Woodfibre </a:t>
            </a:r>
            <a:r>
              <a:rPr sz="1300" b="1">
                <a:solidFill>
                  <a:srgbClr val="7DC24B"/>
                </a:solidFill>
              </a:rPr>
              <a:t>LNG</a:t>
            </a:r>
          </a:p>
        </p:txBody>
      </p:sp>
      <p:sp>
        <p:nvSpPr>
          <p:cNvPr id="3" name="TextBox 2"/>
          <p:cNvSpPr txBox="1"/>
          <p:nvPr/>
        </p:nvSpPr>
        <p:spPr>
          <a:xfrm>
            <a:off x="9448495" y="228600"/>
            <a:ext cx="2286000" cy="548640"/>
          </a:xfrm>
          <a:prstGeom prst="rect">
            <a:avLst/>
          </a:prstGeom>
          <a:noFill/>
        </p:spPr>
        <p:txBody>
          <a:bodyPr wrap="square" lIns="0" tIns="0" rIns="0" bIns="0">
            <a:spAutoFit/>
          </a:bodyPr>
          <a:lstStyle/>
          <a:p>
            <a:pPr algn="r">
              <a:defRPr sz="1300" b="1">
                <a:solidFill>
                  <a:srgbClr val="5BAAD8"/>
                </a:solidFill>
              </a:defRPr>
            </a:pPr>
            <a:r>
              <a:t>Woodfibre </a:t>
            </a:r>
            <a:r>
              <a:rPr sz="1300" b="1">
                <a:solidFill>
                  <a:srgbClr val="7DC24B"/>
                </a:solidFill>
              </a:rPr>
              <a:t>LNG</a:t>
            </a:r>
          </a:p>
        </p:txBody>
      </p:sp>
      <p:sp>
        <p:nvSpPr>
          <p:cNvPr id="4" name="TextBox 3"/>
          <p:cNvSpPr txBox="1"/>
          <p:nvPr/>
        </p:nvSpPr>
        <p:spPr>
          <a:xfrm>
            <a:off x="914400" y="822960"/>
            <a:ext cx="10362895" cy="1828800"/>
          </a:xfrm>
          <a:prstGeom prst="rect">
            <a:avLst/>
          </a:prstGeom>
          <a:noFill/>
        </p:spPr>
        <p:txBody>
          <a:bodyPr wrap="none">
            <a:spAutoFit/>
          </a:bodyPr>
          <a:lstStyle/>
          <a:p>
            <a:pPr algn="ctr">
              <a:defRPr sz="1100" b="1">
                <a:solidFill>
                  <a:srgbClr val="7DC24B"/>
                </a:solidFill>
              </a:defRPr>
            </a:pPr>
            <a:r>
              <a:t>PILLAR 05 OF 05</a:t>
            </a:r>
          </a:p>
          <a:p>
            <a:pPr algn="ctr">
              <a:defRPr sz="4000" b="1">
                <a:solidFill>
                  <a:srgbClr val="FFFFFF"/>
                </a:solidFill>
              </a:defRPr>
            </a:pPr>
            <a:r>
              <a:t>ACHIEVEMENT</a:t>
            </a:r>
          </a:p>
          <a:p>
            <a:pPr algn="ctr">
              <a:spcBef>
                <a:spcPts val="400"/>
              </a:spcBef>
              <a:defRPr sz="1400" i="1">
                <a:solidFill>
                  <a:srgbClr val="5BAAD8"/>
                </a:solidFill>
              </a:defRPr>
            </a:pPr>
            <a:r>
              <a:t>"You helped build one of the most significant energy facilities in Canada."</a:t>
            </a:r>
          </a:p>
        </p:txBody>
      </p:sp>
      <p:sp>
        <p:nvSpPr>
          <p:cNvPr id="5" name="Rounded Rectangle 4"/>
          <p:cNvSpPr/>
          <p:nvPr/>
        </p:nvSpPr>
        <p:spPr>
          <a:xfrm>
            <a:off x="2011680" y="2834640"/>
            <a:ext cx="8168335" cy="2011680"/>
          </a:xfrm>
          <a:prstGeom prst="roundRect">
            <a:avLst/>
          </a:prstGeom>
          <a:solidFill>
            <a:srgbClr val="0D2040"/>
          </a:solidFill>
          <a:ln>
            <a:solidFill>
              <a:srgbClr val="2E7B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EEF4FB"/>
                </a:solidFill>
              </a:defRPr>
            </a:pPr>
            <a:r>
              <a:t>Look at this site. Look at what has been built. Every weld, every bolt, every cable pull — that was someone in this room. You built this. Getting from construction to first gas safely is one of the hardest things to do in the energy industry. Very few workforces in the world get to say they did it.</a:t>
            </a:r>
          </a:p>
        </p:txBody>
      </p:sp>
      <p:sp>
        <p:nvSpPr>
          <p:cNvPr id="6" name="Rounded Rectangle 5"/>
          <p:cNvSpPr/>
          <p:nvPr/>
        </p:nvSpPr>
        <p:spPr>
          <a:xfrm>
            <a:off x="2560320" y="5120640"/>
            <a:ext cx="7071055" cy="731520"/>
          </a:xfrm>
          <a:prstGeom prst="roundRect">
            <a:avLst/>
          </a:prstGeom>
          <a:solidFill>
            <a:srgbClr val="0D2040"/>
          </a:solidFill>
          <a:ln w="19050">
            <a:solidFill>
              <a:srgbClr val="7D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7DC24B"/>
                </a:solidFill>
              </a:defRPr>
            </a:pPr>
            <a:r>
              <a:t>That achievement is within reach. Let's finish this the right way.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50E1C"/>
        </a:solidFill>
        <a:effectLst/>
      </p:bgPr>
    </p:bg>
    <p:spTree>
      <p:nvGrpSpPr>
        <p:cNvPr id="1" name=""/>
        <p:cNvGrpSpPr/>
        <p:nvPr/>
      </p:nvGrpSpPr>
      <p:grpSpPr/>
      <p:sp>
        <p:nvSpPr>
          <p:cNvPr id="2" name="TextBox 1"/>
          <p:cNvSpPr txBox="1"/>
          <p:nvPr/>
        </p:nvSpPr>
        <p:spPr>
          <a:xfrm>
            <a:off x="457200" y="228600"/>
            <a:ext cx="2743200" cy="548640"/>
          </a:xfrm>
          <a:prstGeom prst="rect">
            <a:avLst/>
          </a:prstGeom>
          <a:noFill/>
        </p:spPr>
        <p:txBody>
          <a:bodyPr wrap="square" lIns="0" tIns="0" rIns="0" bIns="0">
            <a:spAutoFit/>
          </a:bodyPr>
          <a:lstStyle/>
          <a:p>
            <a:pPr>
              <a:defRPr sz="1300" b="1">
                <a:solidFill>
                  <a:srgbClr val="5BAAD8"/>
                </a:solidFill>
              </a:defRPr>
            </a:pPr>
            <a:r>
              <a:t>Woodfibre </a:t>
            </a:r>
            <a:r>
              <a:rPr sz="1300" b="1">
                <a:solidFill>
                  <a:srgbClr val="7DC24B"/>
                </a:solidFill>
              </a:rPr>
              <a:t>LNG</a:t>
            </a:r>
          </a:p>
        </p:txBody>
      </p:sp>
      <p:sp>
        <p:nvSpPr>
          <p:cNvPr id="3" name="TextBox 2"/>
          <p:cNvSpPr txBox="1"/>
          <p:nvPr/>
        </p:nvSpPr>
        <p:spPr>
          <a:xfrm>
            <a:off x="9448495" y="228600"/>
            <a:ext cx="2286000" cy="548640"/>
          </a:xfrm>
          <a:prstGeom prst="rect">
            <a:avLst/>
          </a:prstGeom>
          <a:noFill/>
        </p:spPr>
        <p:txBody>
          <a:bodyPr wrap="square" lIns="0" tIns="0" rIns="0" bIns="0">
            <a:spAutoFit/>
          </a:bodyPr>
          <a:lstStyle/>
          <a:p>
            <a:pPr algn="r">
              <a:defRPr sz="1300" b="1">
                <a:solidFill>
                  <a:srgbClr val="5BAAD8"/>
                </a:solidFill>
              </a:defRPr>
            </a:pPr>
            <a:r>
              <a:t>Woodfibre </a:t>
            </a:r>
            <a:r>
              <a:rPr sz="1300" b="1">
                <a:solidFill>
                  <a:srgbClr val="7DC24B"/>
                </a:solidFill>
              </a:rPr>
              <a:t>LNG</a:t>
            </a:r>
          </a:p>
        </p:txBody>
      </p:sp>
      <p:sp>
        <p:nvSpPr>
          <p:cNvPr id="4" name="TextBox 3"/>
          <p:cNvSpPr txBox="1"/>
          <p:nvPr/>
        </p:nvSpPr>
        <p:spPr>
          <a:xfrm>
            <a:off x="914400" y="731520"/>
            <a:ext cx="10362895" cy="1097280"/>
          </a:xfrm>
          <a:prstGeom prst="rect">
            <a:avLst/>
          </a:prstGeom>
          <a:noFill/>
        </p:spPr>
        <p:txBody>
          <a:bodyPr wrap="none">
            <a:spAutoFit/>
          </a:bodyPr>
          <a:lstStyle/>
          <a:p>
            <a:pPr algn="ctr">
              <a:defRPr sz="1100" b="1">
                <a:solidFill>
                  <a:srgbClr val="5BAAD8"/>
                </a:solidFill>
              </a:defRPr>
            </a:pPr>
            <a:r>
              <a:t>WHAT IT ALL ADDS UP TO</a:t>
            </a:r>
          </a:p>
          <a:p>
            <a:pPr algn="ctr">
              <a:defRPr sz="3200" b="1">
                <a:solidFill>
                  <a:srgbClr val="FFFFFF"/>
                </a:solidFill>
              </a:defRPr>
            </a:pPr>
            <a:r>
              <a:t>SAFETY IN TRANSITION MEANS...</a:t>
            </a:r>
          </a:p>
        </p:txBody>
      </p:sp>
      <p:sp>
        <p:nvSpPr>
          <p:cNvPr id="5" name="Rounded Rectangle 4"/>
          <p:cNvSpPr/>
          <p:nvPr/>
        </p:nvSpPr>
        <p:spPr>
          <a:xfrm>
            <a:off x="700887" y="2103120"/>
            <a:ext cx="2011680" cy="640080"/>
          </a:xfrm>
          <a:prstGeom prst="roundRect">
            <a:avLst/>
          </a:prstGeom>
          <a:solidFill>
            <a:srgbClr val="0D2040"/>
          </a:solidFill>
          <a:ln>
            <a:solidFill>
              <a:srgbClr val="2E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 Communication</a:t>
            </a:r>
          </a:p>
        </p:txBody>
      </p:sp>
      <p:sp>
        <p:nvSpPr>
          <p:cNvPr id="6" name="Rounded Rectangle 5"/>
          <p:cNvSpPr/>
          <p:nvPr/>
        </p:nvSpPr>
        <p:spPr>
          <a:xfrm>
            <a:off x="2895447" y="2103120"/>
            <a:ext cx="2011680" cy="640080"/>
          </a:xfrm>
          <a:prstGeom prst="roundRect">
            <a:avLst/>
          </a:prstGeom>
          <a:solidFill>
            <a:srgbClr val="0D2040"/>
          </a:solidFill>
          <a:ln>
            <a:solidFill>
              <a:srgbClr val="2E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 Cooperation</a:t>
            </a:r>
          </a:p>
        </p:txBody>
      </p:sp>
      <p:sp>
        <p:nvSpPr>
          <p:cNvPr id="7" name="Rounded Rectangle 6"/>
          <p:cNvSpPr/>
          <p:nvPr/>
        </p:nvSpPr>
        <p:spPr>
          <a:xfrm>
            <a:off x="5090007" y="2103120"/>
            <a:ext cx="2011680" cy="640080"/>
          </a:xfrm>
          <a:prstGeom prst="roundRect">
            <a:avLst/>
          </a:prstGeom>
          <a:solidFill>
            <a:srgbClr val="0D2040"/>
          </a:solidFill>
          <a:ln>
            <a:solidFill>
              <a:srgbClr val="2E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 Vigilance</a:t>
            </a:r>
          </a:p>
        </p:txBody>
      </p:sp>
      <p:sp>
        <p:nvSpPr>
          <p:cNvPr id="8" name="Rounded Rectangle 7"/>
          <p:cNvSpPr/>
          <p:nvPr/>
        </p:nvSpPr>
        <p:spPr>
          <a:xfrm>
            <a:off x="7284567" y="2103120"/>
            <a:ext cx="2011680" cy="640080"/>
          </a:xfrm>
          <a:prstGeom prst="roundRect">
            <a:avLst/>
          </a:prstGeom>
          <a:solidFill>
            <a:srgbClr val="0D2040"/>
          </a:solidFill>
          <a:ln>
            <a:solidFill>
              <a:srgbClr val="2E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 Discipline</a:t>
            </a:r>
          </a:p>
        </p:txBody>
      </p:sp>
      <p:sp>
        <p:nvSpPr>
          <p:cNvPr id="9" name="Rounded Rectangle 8"/>
          <p:cNvSpPr/>
          <p:nvPr/>
        </p:nvSpPr>
        <p:spPr>
          <a:xfrm>
            <a:off x="9479127" y="2103120"/>
            <a:ext cx="2011680" cy="640080"/>
          </a:xfrm>
          <a:prstGeom prst="roundRect">
            <a:avLst/>
          </a:prstGeom>
          <a:solidFill>
            <a:srgbClr val="0D2040"/>
          </a:solidFill>
          <a:ln>
            <a:solidFill>
              <a:srgbClr val="2E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 Achievement</a:t>
            </a:r>
          </a:p>
        </p:txBody>
      </p:sp>
      <p:sp>
        <p:nvSpPr>
          <p:cNvPr id="10" name="Rounded Rectangle 9"/>
          <p:cNvSpPr/>
          <p:nvPr/>
        </p:nvSpPr>
        <p:spPr>
          <a:xfrm>
            <a:off x="3200400" y="3291840"/>
            <a:ext cx="5790895" cy="1645920"/>
          </a:xfrm>
          <a:prstGeom prst="roundRect">
            <a:avLst/>
          </a:prstGeom>
          <a:solidFill>
            <a:srgbClr val="0D2040"/>
          </a:solidFill>
          <a:ln w="25400">
            <a:solidFill>
              <a:srgbClr val="7DC24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5BAAD8"/>
                </a:solidFill>
              </a:defRPr>
            </a:pPr>
            <a:r>
              <a:t>EQUALS</a:t>
            </a:r>
          </a:p>
          <a:p>
            <a:pPr algn="ctr">
              <a:spcBef>
                <a:spcPts val="600"/>
              </a:spcBef>
              <a:defRPr sz="2800" b="1">
                <a:solidFill>
                  <a:srgbClr val="7DC24B"/>
                </a:solidFill>
              </a:defRPr>
            </a:pPr>
            <a:r>
              <a:t>OPERATIONAL READINESS</a:t>
            </a:r>
          </a:p>
        </p:txBody>
      </p:sp>
      <p:sp>
        <p:nvSpPr>
          <p:cNvPr id="11" name="TextBox 10"/>
          <p:cNvSpPr txBox="1"/>
          <p:nvPr/>
        </p:nvSpPr>
        <p:spPr>
          <a:xfrm>
            <a:off x="1828800" y="5212080"/>
            <a:ext cx="8534095" cy="731520"/>
          </a:xfrm>
          <a:prstGeom prst="rect">
            <a:avLst/>
          </a:prstGeom>
          <a:noFill/>
        </p:spPr>
        <p:txBody>
          <a:bodyPr wrap="none">
            <a:spAutoFit/>
          </a:bodyPr>
          <a:lstStyle/>
          <a:p>
            <a:pPr algn="ctr">
              <a:defRPr sz="1600" b="1" i="1">
                <a:solidFill>
                  <a:srgbClr val="FFFFFF"/>
                </a:solidFill>
              </a:defRPr>
            </a:pPr>
            <a:r>
              <a:t>"That is what Safety in Transition means."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50E1C"/>
        </a:solidFill>
        <a:effectLst/>
      </p:bgPr>
    </p:bg>
    <p:spTree>
      <p:nvGrpSpPr>
        <p:cNvPr id="1" name=""/>
        <p:cNvGrpSpPr/>
        <p:nvPr/>
      </p:nvGrpSpPr>
      <p:grpSpPr/>
      <p:sp>
        <p:nvSpPr>
          <p:cNvPr id="2" name="TextBox 1"/>
          <p:cNvSpPr txBox="1"/>
          <p:nvPr/>
        </p:nvSpPr>
        <p:spPr>
          <a:xfrm>
            <a:off x="457200" y="228600"/>
            <a:ext cx="2743200" cy="548640"/>
          </a:xfrm>
          <a:prstGeom prst="rect">
            <a:avLst/>
          </a:prstGeom>
          <a:noFill/>
        </p:spPr>
        <p:txBody>
          <a:bodyPr wrap="square" lIns="0" tIns="0" rIns="0" bIns="0">
            <a:spAutoFit/>
          </a:bodyPr>
          <a:lstStyle/>
          <a:p>
            <a:pPr>
              <a:defRPr sz="1300" b="1">
                <a:solidFill>
                  <a:srgbClr val="5BAAD8"/>
                </a:solidFill>
              </a:defRPr>
            </a:pPr>
            <a:r>
              <a:t>Woodfibre </a:t>
            </a:r>
            <a:r>
              <a:rPr sz="1300" b="1">
                <a:solidFill>
                  <a:srgbClr val="7DC24B"/>
                </a:solidFill>
              </a:rPr>
              <a:t>LNG</a:t>
            </a:r>
          </a:p>
        </p:txBody>
      </p:sp>
      <p:sp>
        <p:nvSpPr>
          <p:cNvPr id="3" name="TextBox 2"/>
          <p:cNvSpPr txBox="1"/>
          <p:nvPr/>
        </p:nvSpPr>
        <p:spPr>
          <a:xfrm>
            <a:off x="9448495" y="228600"/>
            <a:ext cx="2286000" cy="548640"/>
          </a:xfrm>
          <a:prstGeom prst="rect">
            <a:avLst/>
          </a:prstGeom>
          <a:noFill/>
        </p:spPr>
        <p:txBody>
          <a:bodyPr wrap="square" lIns="0" tIns="0" rIns="0" bIns="0">
            <a:spAutoFit/>
          </a:bodyPr>
          <a:lstStyle/>
          <a:p>
            <a:pPr algn="r">
              <a:defRPr sz="1300" b="1">
                <a:solidFill>
                  <a:srgbClr val="5BAAD8"/>
                </a:solidFill>
              </a:defRPr>
            </a:pPr>
            <a:r>
              <a:t>Woodfibre </a:t>
            </a:r>
            <a:r>
              <a:rPr sz="1300" b="1">
                <a:solidFill>
                  <a:srgbClr val="7DC24B"/>
                </a:solidFill>
              </a:rPr>
              <a:t>LNG</a:t>
            </a:r>
          </a:p>
        </p:txBody>
      </p:sp>
      <p:sp>
        <p:nvSpPr>
          <p:cNvPr id="4" name="TextBox 3"/>
          <p:cNvSpPr txBox="1"/>
          <p:nvPr/>
        </p:nvSpPr>
        <p:spPr>
          <a:xfrm>
            <a:off x="914400" y="731520"/>
            <a:ext cx="10362895" cy="1097280"/>
          </a:xfrm>
          <a:prstGeom prst="rect">
            <a:avLst/>
          </a:prstGeom>
          <a:noFill/>
        </p:spPr>
        <p:txBody>
          <a:bodyPr wrap="none">
            <a:spAutoFit/>
          </a:bodyPr>
          <a:lstStyle/>
          <a:p>
            <a:pPr algn="ctr">
              <a:defRPr sz="1100" b="1">
                <a:solidFill>
                  <a:srgbClr val="5BAAD8"/>
                </a:solidFill>
              </a:defRPr>
            </a:pPr>
            <a:r>
              <a:t>YOUR COMMITMENT TODAY</a:t>
            </a:r>
          </a:p>
          <a:p>
            <a:pPr algn="ctr">
              <a:defRPr sz="3000" b="1">
                <a:solidFill>
                  <a:srgbClr val="FFFFFF"/>
                </a:solidFill>
              </a:defRPr>
            </a:pPr>
            <a:r>
              <a:t>BEFORE YOU GO TO WORK</a:t>
            </a:r>
          </a:p>
        </p:txBody>
      </p:sp>
      <p:sp>
        <p:nvSpPr>
          <p:cNvPr id="5" name="Rounded Rectangle 4"/>
          <p:cNvSpPr/>
          <p:nvPr/>
        </p:nvSpPr>
        <p:spPr>
          <a:xfrm>
            <a:off x="2011680" y="1920240"/>
            <a:ext cx="8168335" cy="3474720"/>
          </a:xfrm>
          <a:prstGeom prst="roundRect">
            <a:avLst/>
          </a:prstGeom>
          <a:solidFill>
            <a:srgbClr val="0D2040"/>
          </a:solidFill>
          <a:ln>
            <a:solidFill>
              <a:srgbClr val="2E7BC4"/>
            </a:solidFill>
          </a:ln>
        </p:spPr>
        <p:style>
          <a:lnRef idx="1">
            <a:schemeClr val="accent1"/>
          </a:lnRef>
          <a:fillRef idx="3">
            <a:schemeClr val="accent1"/>
          </a:fillRef>
          <a:effectRef idx="2">
            <a:schemeClr val="accent1"/>
          </a:effectRef>
          <a:fontRef idx="minor">
            <a:schemeClr val="lt1"/>
          </a:fontRef>
        </p:style>
        <p:txBody>
          <a:bodyPr rtlCol="0" anchor="ctr" wrap="square" lIns="365760" tIns="182880"/>
          <a:lstStyle/>
          <a:p>
            <a:pPr algn="ctr">
              <a:defRPr sz="1300">
                <a:solidFill>
                  <a:srgbClr val="EEF4FB"/>
                </a:solidFill>
              </a:defRPr>
            </a:pPr>
            <a:r>
              <a:t>✓  Know what systems are live before you start work.</a:t>
            </a:r>
          </a:p>
          <a:p>
            <a:pPr>
              <a:spcBef>
                <a:spcPts val="1200"/>
              </a:spcBef>
              <a:defRPr sz="1300">
                <a:solidFill>
                  <a:srgbClr val="EEF4FB"/>
                </a:solidFill>
              </a:defRPr>
            </a:pPr>
            <a:r>
              <a:t>✓  Raise the alarm when something doesn't look right — regardless of scope.</a:t>
            </a:r>
          </a:p>
          <a:p>
            <a:pPr>
              <a:spcBef>
                <a:spcPts val="1200"/>
              </a:spcBef>
              <a:defRPr sz="1300">
                <a:solidFill>
                  <a:srgbClr val="EEF4FB"/>
                </a:solidFill>
              </a:defRPr>
            </a:pPr>
            <a:r>
              <a:t>✓  Follow the permit and isolation process — every time.</a:t>
            </a:r>
          </a:p>
          <a:p>
            <a:pPr>
              <a:spcBef>
                <a:spcPts val="1200"/>
              </a:spcBef>
              <a:defRPr sz="1300">
                <a:solidFill>
                  <a:srgbClr val="EEF4FB"/>
                </a:solidFill>
              </a:defRPr>
            </a:pPr>
            <a:r>
              <a:t>✓  Ask if you're unsure. Stop work if you're not.</a:t>
            </a:r>
          </a:p>
          <a:p>
            <a:pPr>
              <a:spcBef>
                <a:spcPts val="1200"/>
              </a:spcBef>
              <a:defRPr sz="1300">
                <a:solidFill>
                  <a:srgbClr val="EEF4FB"/>
                </a:solidFill>
              </a:defRPr>
            </a:pPr>
            <a:r>
              <a:t>✓  Look out for the person beside you.</a:t>
            </a:r>
          </a:p>
        </p:txBody>
      </p:sp>
      <p:sp>
        <p:nvSpPr>
          <p:cNvPr id="6" name="TextBox 5"/>
          <p:cNvSpPr txBox="1"/>
          <p:nvPr/>
        </p:nvSpPr>
        <p:spPr>
          <a:xfrm>
            <a:off x="1828800" y="5577840"/>
            <a:ext cx="8534095" cy="731520"/>
          </a:xfrm>
          <a:prstGeom prst="rect">
            <a:avLst/>
          </a:prstGeom>
          <a:noFill/>
        </p:spPr>
        <p:txBody>
          <a:bodyPr wrap="none">
            <a:spAutoFit/>
          </a:bodyPr>
          <a:lstStyle/>
          <a:p>
            <a:pPr algn="ctr">
              <a:defRPr sz="1600" b="1" i="1">
                <a:solidFill>
                  <a:srgbClr val="7DC24B"/>
                </a:solidFill>
              </a:defRPr>
            </a:pPr>
            <a:r>
              <a:t>"We didn't come this far to cut corners now."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