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E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4DCEB"/>
                </a:solidFill>
              </a:defRPr>
            </a:pPr>
            <a:r>
              <a:t>NCSI1182B — Communications 1</a:t>
            </a:r>
          </a:p>
          <a:p>
            <a:pPr>
              <a:spcBef>
                <a:spcPts val="1000"/>
              </a:spcBef>
              <a:defRPr sz="4000" b="1">
                <a:solidFill>
                  <a:srgbClr val="FFFFFF"/>
                </a:solidFill>
              </a:defRPr>
            </a:pPr>
            <a:r>
              <a:t>Visual Master Deck: Modules 1 to 3</a:t>
            </a:r>
          </a:p>
          <a:p>
            <a:pPr>
              <a:spcBef>
                <a:spcPts val="1500"/>
              </a:spcBef>
              <a:defRPr sz="2200">
                <a:solidFill>
                  <a:srgbClr val="DCF0FA"/>
                </a:solidFill>
              </a:defRPr>
            </a:pPr>
            <a:r>
              <a:t>Basic Communication • Bridges to Care • Overcoming Barriers</a:t>
            </a:r>
          </a:p>
          <a:p>
            <a:pPr>
              <a:spcBef>
                <a:spcPts val="3500"/>
              </a:spcBef>
              <a:defRPr sz="1600" i="1">
                <a:solidFill>
                  <a:srgbClr val="A0C8DC"/>
                </a:solidFill>
              </a:defRPr>
            </a:pPr>
            <a:r>
              <a:t>Prepared for Rayne Moulton | Practical Nursing Study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4E66"/>
          </a:solidFill>
          <a:ln>
            <a:solidFill>
              <a:srgbClr val="10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DCEB"/>
                </a:solidFill>
              </a:defRPr>
            </a:pPr>
            <a:r>
              <a:t>NCSI1182B • COMMUNICATIONS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1: The Core Process of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4E66"/>
                </a:solidFill>
              </a:defRPr>
            </a:pPr>
            <a:r>
              <a:t>Process &amp; Flow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Sender encodes message with intent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Transmits through channel (oral, written, nonverbal)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Receiver decodes using context &amp; background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Feedback loop completes comprehension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2918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4E66"/>
                </a:solidFill>
              </a:defRPr>
            </a:pPr>
            <a:r>
              <a:t>Types of Communication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Oral: Spoken speech &amp; words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Written: Symbols, charts, digital notes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Nonverbal: Gestures, facial expression, posture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Metacommunication: Cues that instruct how to interpret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2918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4E66"/>
                </a:solidFill>
              </a:defRPr>
            </a:pPr>
            <a:r>
              <a:t>Clinical Impact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Majority of healthcare errors stem from poor communication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Leading root cause of medication errors &amp; treatment delays</a:t>
            </a:r>
          </a:p>
          <a:p>
            <a:pPr>
              <a:spcBef>
                <a:spcPts val="1000"/>
              </a:spcBef>
              <a:defRPr sz="1400">
                <a:solidFill>
                  <a:srgbClr val="1B2A4A"/>
                </a:solidFill>
              </a:defRPr>
            </a:pPr>
            <a:r>
              <a:t>• Patient safety is the top priority in nursing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4E66"/>
          </a:solidFill>
          <a:ln>
            <a:solidFill>
              <a:srgbClr val="10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DCEB"/>
                </a:solidFill>
              </a:defRPr>
            </a:pPr>
            <a:r>
              <a:t>NCSI1182B • COMMUNICATIONS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1: Proxemics &amp; Message Congruence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4E66"/>
                </a:solidFill>
              </a:defRPr>
            </a:pPr>
            <a:r>
              <a:t>The 4 Zones of Proxemics (Space)</a:t>
            </a:r>
          </a:p>
          <a:p>
            <a:pPr>
              <a:spcBef>
                <a:spcPts val="800"/>
              </a:spcBef>
              <a:defRPr sz="1400" b="1">
                <a:solidFill>
                  <a:srgbClr val="1B2A4A"/>
                </a:solidFill>
              </a:defRPr>
            </a:pPr>
            <a:r>
              <a:t>• Intimate Space (0 - 45 cm / 18 in):</a:t>
            </a:r>
          </a:p>
          <a:p>
            <a:pPr>
              <a:defRPr sz="1300">
                <a:solidFill>
                  <a:srgbClr val="1B2A4A"/>
                </a:solidFill>
              </a:defRPr>
            </a:pPr>
            <a:r>
              <a:t>  Shared with close emotional ties; physical care &amp; procedures.</a:t>
            </a:r>
          </a:p>
          <a:p>
            <a:pPr>
              <a:spcBef>
                <a:spcPts val="800"/>
              </a:spcBef>
              <a:defRPr sz="1400" b="1">
                <a:solidFill>
                  <a:srgbClr val="1B2A4A"/>
                </a:solidFill>
              </a:defRPr>
            </a:pPr>
            <a:r>
              <a:t>• Personal Distance (45 cm - 1.2 m / 18 in - 3.5 ft):</a:t>
            </a:r>
          </a:p>
          <a:p>
            <a:pPr>
              <a:defRPr sz="1300">
                <a:solidFill>
                  <a:srgbClr val="1B2A4A"/>
                </a:solidFill>
              </a:defRPr>
            </a:pPr>
            <a:r>
              <a:t>  Within arm's reach; ideal for clinical history taking.</a:t>
            </a:r>
          </a:p>
          <a:p>
            <a:pPr>
              <a:spcBef>
                <a:spcPts val="800"/>
              </a:spcBef>
              <a:defRPr sz="1400" b="1">
                <a:solidFill>
                  <a:srgbClr val="1B2A4A"/>
                </a:solidFill>
              </a:defRPr>
            </a:pPr>
            <a:r>
              <a:t>• Social Distance (1.2 m - 3.6 m / 3.5 - 12 ft):</a:t>
            </a:r>
          </a:p>
          <a:p>
            <a:pPr>
              <a:defRPr sz="1300">
                <a:solidFill>
                  <a:srgbClr val="1B2A4A"/>
                </a:solidFill>
              </a:defRPr>
            </a:pPr>
            <a:r>
              <a:t>  Comfortable for formal &amp; business relationships.</a:t>
            </a:r>
          </a:p>
          <a:p>
            <a:pPr>
              <a:spcBef>
                <a:spcPts val="800"/>
              </a:spcBef>
              <a:defRPr sz="1400" b="1">
                <a:solidFill>
                  <a:srgbClr val="1B2A4A"/>
                </a:solidFill>
              </a:defRPr>
            </a:pPr>
            <a:r>
              <a:t>• Public Distance (3.6 m+ / 12 ft+):</a:t>
            </a:r>
          </a:p>
          <a:p>
            <a:pPr>
              <a:defRPr sz="1300">
                <a:solidFill>
                  <a:srgbClr val="1B2A4A"/>
                </a:solidFill>
              </a:defRPr>
            </a:pPr>
            <a:r>
              <a:t>  Public settings; non-personal interaction.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4E66"/>
                </a:solidFill>
              </a:defRPr>
            </a:pPr>
            <a:r>
              <a:t>Verbal vs Nonverbal Congruence</a:t>
            </a:r>
          </a:p>
          <a:p>
            <a:pPr>
              <a:spcBef>
                <a:spcPts val="800"/>
              </a:spcBef>
              <a:defRPr sz="1400" b="1">
                <a:solidFill>
                  <a:srgbClr val="1B2A4A"/>
                </a:solidFill>
              </a:defRPr>
            </a:pPr>
            <a:r>
              <a:t>• Congruent Pattern:</a:t>
            </a:r>
          </a:p>
          <a:p>
            <a:pPr>
              <a:defRPr sz="1300">
                <a:solidFill>
                  <a:srgbClr val="1B2A4A"/>
                </a:solidFill>
              </a:defRPr>
            </a:pPr>
            <a:r>
              <a:t>  Verbal words &amp; nonverbal cues match (reinforce each other).</a:t>
            </a:r>
          </a:p>
          <a:p>
            <a:pPr>
              <a:spcBef>
                <a:spcPts val="800"/>
              </a:spcBef>
              <a:defRPr sz="1400" b="1">
                <a:solidFill>
                  <a:srgbClr val="1B2A4A"/>
                </a:solidFill>
              </a:defRPr>
            </a:pPr>
            <a:r>
              <a:t>• Incongruent Pattern:</a:t>
            </a:r>
          </a:p>
          <a:p>
            <a:pPr>
              <a:defRPr sz="1300">
                <a:solidFill>
                  <a:srgbClr val="1B2A4A"/>
                </a:solidFill>
              </a:defRPr>
            </a:pPr>
            <a:r>
              <a:t>  Verbal words &amp; body language conflict (e.g., patient says 'No pain' while clutching abdomen).</a:t>
            </a:r>
          </a:p>
          <a:p>
            <a:pPr>
              <a:spcBef>
                <a:spcPts val="800"/>
              </a:spcBef>
              <a:defRPr sz="1400" b="1">
                <a:solidFill>
                  <a:srgbClr val="1B2A4A"/>
                </a:solidFill>
              </a:defRPr>
            </a:pPr>
            <a:r>
              <a:t>• Rule of Dominance:</a:t>
            </a:r>
          </a:p>
          <a:p>
            <a:pPr>
              <a:defRPr sz="1300">
                <a:solidFill>
                  <a:srgbClr val="1B2A4A"/>
                </a:solidFill>
              </a:defRPr>
            </a:pPr>
            <a:r>
              <a:t>  When cues conflict, nonverbal body language is perceived as more trustworthy than words!</a:t>
            </a:r>
          </a:p>
          <a:p>
            <a:pPr>
              <a:spcBef>
                <a:spcPts val="800"/>
              </a:spcBef>
              <a:defRPr sz="1400" b="1">
                <a:solidFill>
                  <a:srgbClr val="1B2A4A"/>
                </a:solidFill>
              </a:defRPr>
            </a:pPr>
            <a:r>
              <a:t>• Nursing Role:</a:t>
            </a:r>
          </a:p>
          <a:p>
            <a:pPr>
              <a:defRPr sz="1300">
                <a:solidFill>
                  <a:srgbClr val="1B2A4A"/>
                </a:solidFill>
              </a:defRPr>
            </a:pPr>
            <a:r>
              <a:t>  Always point out &amp; explore incongruence gently to uncover real feelings.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4E66"/>
          </a:solidFill>
          <a:ln>
            <a:solidFill>
              <a:srgbClr val="10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DCEB"/>
                </a:solidFill>
              </a:defRPr>
            </a:pPr>
            <a:r>
              <a:t>NCSI1182B • COMMUNICATIONS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2: Key Bridges to Effective Communication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4E66"/>
                </a:solidFill>
              </a:defRPr>
            </a:pPr>
            <a:r>
              <a:t>Respect</a:t>
            </a:r>
          </a:p>
          <a:p>
            <a:pPr>
              <a:spcBef>
                <a:spcPts val="600"/>
              </a:spcBef>
              <a:defRPr sz="1300">
                <a:solidFill>
                  <a:srgbClr val="1B2A4A"/>
                </a:solidFill>
              </a:defRPr>
            </a:pPr>
            <a:r>
              <a:t>Address by preferred name. Avoid patronizing terms ('Honey', 'Dear'). Respect patient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32918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4E66"/>
                </a:solidFill>
              </a:defRPr>
            </a:pPr>
            <a:r>
              <a:t>Caring</a:t>
            </a:r>
          </a:p>
          <a:p>
            <a:pPr>
              <a:spcBef>
                <a:spcPts val="600"/>
              </a:spcBef>
              <a:defRPr sz="1300">
                <a:solidFill>
                  <a:srgbClr val="1B2A4A"/>
                </a:solidFill>
              </a:defRPr>
            </a:pPr>
            <a:r>
              <a:t>Roach's 6 C's: Compassion, Competence, Confidence, Conscience, Commitment, Comportment. Swanson's Knowing-Being-Doing.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463040"/>
            <a:ext cx="32918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4E66"/>
                </a:solidFill>
              </a:defRPr>
            </a:pPr>
            <a:r>
              <a:t>Mutuality</a:t>
            </a:r>
          </a:p>
          <a:p>
            <a:pPr>
              <a:spcBef>
                <a:spcPts val="600"/>
              </a:spcBef>
              <a:defRPr sz="1300">
                <a:solidFill>
                  <a:srgbClr val="1B2A4A"/>
                </a:solidFill>
              </a:defRPr>
            </a:pPr>
            <a:r>
              <a:t>Shared decision-making; nurse &amp; patient work as equal partners on health goals.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4E66"/>
                </a:solidFill>
              </a:defRPr>
            </a:pPr>
            <a:r>
              <a:t>Empowerment</a:t>
            </a:r>
          </a:p>
          <a:p>
            <a:pPr>
              <a:spcBef>
                <a:spcPts val="600"/>
              </a:spcBef>
              <a:defRPr sz="1300">
                <a:solidFill>
                  <a:srgbClr val="1B2A4A"/>
                </a:solidFill>
              </a:defRPr>
            </a:pPr>
            <a:r>
              <a:t>Provide tools &amp; knowledge for patient self-management. Avoid paternalistic 'I know best' attitude.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931920"/>
            <a:ext cx="32918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4E66"/>
                </a:solidFill>
              </a:defRPr>
            </a:pPr>
            <a:r>
              <a:t>Trust</a:t>
            </a:r>
          </a:p>
          <a:p>
            <a:pPr>
              <a:spcBef>
                <a:spcPts val="600"/>
              </a:spcBef>
              <a:defRPr sz="1300">
                <a:solidFill>
                  <a:srgbClr val="1B2A4A"/>
                </a:solidFill>
              </a:defRPr>
            </a:pPr>
            <a:r>
              <a:t>Foundation of safety. Built on honesty, consistency, follow-through, and confidentiality.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931920"/>
            <a:ext cx="3291840" cy="219456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4069080"/>
            <a:ext cx="3017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4E66"/>
                </a:solidFill>
              </a:defRPr>
            </a:pPr>
            <a:r>
              <a:t>Empathy</a:t>
            </a:r>
          </a:p>
          <a:p>
            <a:pPr>
              <a:spcBef>
                <a:spcPts val="600"/>
              </a:spcBef>
              <a:defRPr sz="1300">
                <a:solidFill>
                  <a:srgbClr val="1B2A4A"/>
                </a:solidFill>
              </a:defRPr>
            </a:pPr>
            <a:r>
              <a:t>Understanding another's feelings nonjudgmentally while maintaining professional boundaries.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4E66"/>
          </a:solidFill>
          <a:ln>
            <a:solidFill>
              <a:srgbClr val="10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DCEB"/>
                </a:solidFill>
              </a:defRPr>
            </a:pPr>
            <a:r>
              <a:t>NCSI1182B • COMMUNICATIONS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3: Overcoming Communication Barriers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503C"/>
                </a:solidFill>
              </a:defRPr>
            </a:pPr>
            <a:r>
              <a:t>False Reassurance</a:t>
            </a:r>
          </a:p>
          <a:p>
            <a:pPr>
              <a:defRPr sz="1200">
                <a:solidFill>
                  <a:srgbClr val="1B2A4A"/>
                </a:solidFill>
              </a:defRPr>
            </a:pPr>
            <a:r>
              <a:t>Barrier: Saying 'Everything will be fine' invalidates fears &amp; destroys trust.</a:t>
            </a:r>
          </a:p>
          <a:p>
            <a:pPr>
              <a:defRPr sz="1200" b="1">
                <a:solidFill>
                  <a:srgbClr val="104E66"/>
                </a:solidFill>
              </a:defRPr>
            </a:pPr>
            <a:r>
              <a:t>Therapeutic Solution: Be honest; offer realistic support based on facts.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512064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5544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503C"/>
                </a:solidFill>
              </a:defRPr>
            </a:pPr>
            <a:r>
              <a:t>Stereotyping &amp; Bias</a:t>
            </a:r>
          </a:p>
          <a:p>
            <a:pPr>
              <a:defRPr sz="1200">
                <a:solidFill>
                  <a:srgbClr val="1B2A4A"/>
                </a:solidFill>
              </a:defRPr>
            </a:pPr>
            <a:r>
              <a:t>Barrier: Applying group traits to individuals (stereotype) or personal dislikes (bias).</a:t>
            </a:r>
          </a:p>
          <a:p>
            <a:pPr>
              <a:defRPr sz="1200" b="1">
                <a:solidFill>
                  <a:srgbClr val="104E66"/>
                </a:solidFill>
              </a:defRPr>
            </a:pPr>
            <a:r>
              <a:t>Therapeutic Solution: Self-awareness &amp; unconditional acceptance without judgment.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512064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503C"/>
                </a:solidFill>
              </a:defRPr>
            </a:pPr>
            <a:r>
              <a:t>Judgmental Statements</a:t>
            </a:r>
          </a:p>
          <a:p>
            <a:pPr>
              <a:defRPr sz="1200">
                <a:solidFill>
                  <a:srgbClr val="1B2A4A"/>
                </a:solidFill>
              </a:defRPr>
            </a:pPr>
            <a:r>
              <a:t>Barrier: Adding personal values/opinions to objective facts.</a:t>
            </a:r>
          </a:p>
          <a:p>
            <a:pPr>
              <a:defRPr sz="1200" b="1">
                <a:solidFill>
                  <a:srgbClr val="104E66"/>
                </a:solidFill>
              </a:defRPr>
            </a:pPr>
            <a:r>
              <a:t>Therapeutic Solution: Provide nonjudgmental holistic care affirming dignity.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108960"/>
            <a:ext cx="512064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004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503C"/>
                </a:solidFill>
              </a:defRPr>
            </a:pPr>
            <a:r>
              <a:t>Giving Advice &amp; Opinions</a:t>
            </a:r>
          </a:p>
          <a:p>
            <a:pPr>
              <a:defRPr sz="1200">
                <a:solidFill>
                  <a:srgbClr val="1B2A4A"/>
                </a:solidFill>
              </a:defRPr>
            </a:pPr>
            <a:r>
              <a:t>Barrier: Telling patients what to do takes away self-determination.</a:t>
            </a:r>
          </a:p>
          <a:p>
            <a:pPr>
              <a:defRPr sz="1200" b="1">
                <a:solidFill>
                  <a:srgbClr val="104E66"/>
                </a:solidFill>
              </a:defRPr>
            </a:pPr>
            <a:r>
              <a:t>Therapeutic Solution: Use Reflection: 'What options are you considering?'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503C"/>
                </a:solidFill>
              </a:defRPr>
            </a:pPr>
            <a:r>
              <a:t>Arguing &amp; Defensiveness</a:t>
            </a:r>
          </a:p>
          <a:p>
            <a:pPr>
              <a:defRPr sz="1200">
                <a:solidFill>
                  <a:srgbClr val="1B2A4A"/>
                </a:solidFill>
              </a:defRPr>
            </a:pPr>
            <a:r>
              <a:t>Barrier: Challenging patient perceptions denies their reality &amp; breaks rapport.</a:t>
            </a:r>
          </a:p>
          <a:p>
            <a:pPr>
              <a:defRPr sz="1200" b="1">
                <a:solidFill>
                  <a:srgbClr val="104E66"/>
                </a:solidFill>
              </a:defRPr>
            </a:pPr>
            <a:r>
              <a:t>Therapeutic Solution: Stay calm, listen creatively, maintain respect under stress.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120640" cy="1463040"/>
          </a:xfrm>
          <a:prstGeom prst="roundRect">
            <a:avLst/>
          </a:prstGeom>
          <a:solidFill>
            <a:srgbClr val="F5F7FA"/>
          </a:solidFill>
          <a:ln>
            <a:solidFill>
              <a:srgbClr val="C8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503C"/>
                </a:solidFill>
              </a:defRPr>
            </a:pPr>
            <a:r>
              <a:t>Patient &amp; Nurse Anxiety</a:t>
            </a:r>
          </a:p>
          <a:p>
            <a:pPr>
              <a:defRPr sz="1200">
                <a:solidFill>
                  <a:srgbClr val="1B2A4A"/>
                </a:solidFill>
              </a:defRPr>
            </a:pPr>
            <a:r>
              <a:t>Barrier: Distracted thinking, overthinking, and impaired listening.</a:t>
            </a:r>
          </a:p>
          <a:p>
            <a:pPr>
              <a:defRPr sz="1200" b="1">
                <a:solidFill>
                  <a:srgbClr val="104E66"/>
                </a:solidFill>
              </a:defRPr>
            </a:pPr>
            <a:r>
              <a:t>Therapeutic Solution: Unhurried pace, slow clear speech, active listening, deep breathing.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4E66"/>
          </a:solidFill>
          <a:ln>
            <a:solidFill>
              <a:srgbClr val="10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B4DCEB"/>
                </a:solidFill>
              </a:defRPr>
            </a:pPr>
            <a:r>
              <a:t>NCSI1182B • COMMUNICATIONS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Exam Strategy &amp; Clinical Takeaways for Rayne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846320"/>
          </a:xfrm>
          <a:prstGeom prst="roundRect">
            <a:avLst/>
          </a:prstGeom>
          <a:solidFill>
            <a:srgbClr val="E6F5FA"/>
          </a:solidFill>
          <a:ln>
            <a:solidFill>
              <a:srgbClr val="10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4E66"/>
                </a:solidFill>
              </a:defRPr>
            </a:pPr>
            <a:r>
              <a:t>Top NCLEX &amp; Nursing Exam Rules for Communications 1:</a:t>
            </a:r>
          </a:p>
          <a:p>
            <a:pPr>
              <a:spcBef>
                <a:spcPts val="1200"/>
              </a:spcBef>
              <a:defRPr sz="1500" b="1">
                <a:solidFill>
                  <a:srgbClr val="1B2A4A"/>
                </a:solidFill>
              </a:defRPr>
            </a:pPr>
            <a:r>
              <a:t>✔  Rule 1: Always prioritize Nonverbal Body Language over verbal words when incongruence is present.</a:t>
            </a:r>
          </a:p>
          <a:p>
            <a:pPr>
              <a:spcBef>
                <a:spcPts val="1200"/>
              </a:spcBef>
              <a:defRPr sz="1500" b="1">
                <a:solidFill>
                  <a:srgbClr val="1B2A4A"/>
                </a:solidFill>
              </a:defRPr>
            </a:pPr>
            <a:r>
              <a:t>✔  Rule 2: Never give False Reassurance ('Everything will be okay'). Always offer honest, data-based support.</a:t>
            </a:r>
          </a:p>
          <a:p>
            <a:pPr>
              <a:spcBef>
                <a:spcPts val="1200"/>
              </a:spcBef>
              <a:defRPr sz="1500" b="1">
                <a:solidFill>
                  <a:srgbClr val="1B2A4A"/>
                </a:solidFill>
              </a:defRPr>
            </a:pPr>
            <a:r>
              <a:t>✔  Rule 3: Never give Personal Advice ('If I were you...'). Always Reflect questions back to empower the patient.</a:t>
            </a:r>
          </a:p>
          <a:p>
            <a:pPr>
              <a:spcBef>
                <a:spcPts val="1200"/>
              </a:spcBef>
              <a:defRPr sz="1500" b="1">
                <a:solidFill>
                  <a:srgbClr val="1B2A4A"/>
                </a:solidFill>
              </a:defRPr>
            </a:pPr>
            <a:r>
              <a:t>✔  Rule 4: Avoid patronizing language ('Honey', 'Dear') and paternalistic attitudes ('I know what is best for you').</a:t>
            </a:r>
          </a:p>
          <a:p>
            <a:pPr>
              <a:spcBef>
                <a:spcPts val="1200"/>
              </a:spcBef>
              <a:defRPr sz="1500" b="1">
                <a:solidFill>
                  <a:srgbClr val="1B2A4A"/>
                </a:solidFill>
              </a:defRPr>
            </a:pPr>
            <a:r>
              <a:t>✔  Rule 5: For anxious patients, reduce environmental stimuli, speak slowly/calmly, and give simple one-step instructions.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B2A4A"/>
                </a:solidFill>
              </a:defRPr>
            </a:pPr>
            <a:r>
              <a:t>✔  Rule 6: Therapeutic communication is ALWAYS goal-directed, patient-centered, and legally/ethically bounded.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