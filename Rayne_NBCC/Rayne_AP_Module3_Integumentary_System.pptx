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80E4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BBD0"/>
                </a:solidFill>
              </a:defRPr>
            </a:pPr>
            <a:r>
              <a:t>HCSS1087A — Anatomy &amp; Physiology</a:t>
            </a:r>
          </a:p>
          <a:p>
            <a:pPr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Module 3: The Integumentary System</a:t>
            </a:r>
          </a:p>
          <a:p>
            <a:pPr>
              <a:spcBef>
                <a:spcPts val="1500"/>
              </a:spcBef>
              <a:defRPr sz="2200">
                <a:solidFill>
                  <a:srgbClr val="FCE4EC"/>
                </a:solidFill>
              </a:defRPr>
            </a:pPr>
            <a:r>
              <a:t>Skin Layers • Accessory Organs • Cutaneous Receptors • 6 Functions</a:t>
            </a:r>
          </a:p>
          <a:p>
            <a:pPr>
              <a:spcBef>
                <a:spcPts val="3500"/>
              </a:spcBef>
              <a:defRPr sz="1600" i="1">
                <a:solidFill>
                  <a:srgbClr val="F48FB1"/>
                </a:solidFill>
              </a:defRPr>
            </a:pPr>
            <a:r>
              <a:t>Instructor: Jessica Freeze Snyder | Practical Nursing Study Suite for Rayne Moulton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80E4F"/>
          </a:solidFill>
          <a:ln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BBD0"/>
                </a:solidFill>
              </a:defRPr>
            </a:pPr>
            <a:r>
              <a:t>HCSS1087A • ANATOMY &amp; PHYSIOLOGY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3: Primary Layers of Human Skin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FAF5F8"/>
          </a:solidFill>
          <a:ln>
            <a:solidFill>
              <a:srgbClr val="DC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80E4F"/>
                </a:solidFill>
              </a:defRPr>
            </a:pPr>
            <a:r>
              <a:t>Epidermis (Outermost)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Nonvascular (no blood vessels; nourished by dermis)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5 distinct layers: Basale, Spinosum, Granulosum, Lucidum, Corneum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95% Keratinocytes (tough waterproof keratin protein)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5% Melanocytes (melanin pigment for skin color)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291840" cy="4846320"/>
          </a:xfrm>
          <a:prstGeom prst="roundRect">
            <a:avLst/>
          </a:prstGeom>
          <a:solidFill>
            <a:srgbClr val="FAF5F8"/>
          </a:solidFill>
          <a:ln>
            <a:solidFill>
              <a:srgbClr val="DC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80E4F"/>
                </a:solidFill>
              </a:defRPr>
            </a:pPr>
            <a:r>
              <a:t>Dermis (Middle Layer)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20x thicker than epidermis; mainly connective tissue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Collagen fibers (tough/strong) &amp; Elastic fibers (stretch)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Papillary Layer: Dermal papillae (fingerprints) &amp; touch receptors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Reticular Layer: Blood vessels, glands, hair follicles, Pacinian corpuscles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291840" cy="4846320"/>
          </a:xfrm>
          <a:prstGeom prst="roundRect">
            <a:avLst/>
          </a:prstGeom>
          <a:solidFill>
            <a:srgbClr val="FAF5F8"/>
          </a:solidFill>
          <a:ln>
            <a:solidFill>
              <a:srgbClr val="DC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80E4F"/>
                </a:solidFill>
              </a:defRPr>
            </a:pPr>
            <a:r>
              <a:t>Hypodermis (Foundation)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Also called Subcutaneous Tissue or Superficial Fascia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Composed mostly of Adipose (fat) tissue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Stores fat for energy, provides thermal insulation &amp; cushioning</a:t>
            </a:r>
          </a:p>
          <a:p>
            <a:pPr>
              <a:spcBef>
                <a:spcPts val="800"/>
              </a:spcBef>
              <a:defRPr sz="1300">
                <a:solidFill>
                  <a:srgbClr val="212121"/>
                </a:solidFill>
              </a:defRPr>
            </a:pPr>
            <a:r>
              <a:t>• Attaches skin securely to underlying muscles &amp; bones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80E4F"/>
          </a:solidFill>
          <a:ln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BBD0"/>
                </a:solidFill>
              </a:defRPr>
            </a:pPr>
            <a:r>
              <a:t>HCSS1087A • ANATOMY &amp; PHYSIOLOGY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3: Accessory Organs (Hair, Nails, Glands)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2194560"/>
          </a:xfrm>
          <a:prstGeom prst="roundRect">
            <a:avLst/>
          </a:prstGeom>
          <a:solidFill>
            <a:srgbClr val="FAF5F8"/>
          </a:solidFill>
          <a:ln>
            <a:solidFill>
              <a:srgbClr val="DC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80E4F"/>
                </a:solidFill>
              </a:defRPr>
            </a:pPr>
            <a:r>
              <a:t>Hair &amp; Arrector Pili</a:t>
            </a:r>
          </a:p>
          <a:p>
            <a:pPr>
              <a:spcBef>
                <a:spcPts val="600"/>
              </a:spcBef>
              <a:defRPr sz="1200">
                <a:solidFill>
                  <a:srgbClr val="212121"/>
                </a:solidFill>
              </a:defRPr>
            </a:pPr>
            <a:r>
              <a:t>Hair Shaft (visible), Root (in follicle), Papilla/Bulb (base growth cluster nourished by blood vessels).</a:t>
            </a:r>
            <a:br/>
            <a:r>
              <a:t>Arrector Pili muscle contracts for 'goosebumps' when cold/scared.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291840" cy="2194560"/>
          </a:xfrm>
          <a:prstGeom prst="roundRect">
            <a:avLst/>
          </a:prstGeom>
          <a:solidFill>
            <a:srgbClr val="FAF5F8"/>
          </a:solidFill>
          <a:ln>
            <a:solidFill>
              <a:srgbClr val="DC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6002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80E4F"/>
                </a:solidFill>
              </a:defRPr>
            </a:pPr>
            <a:r>
              <a:t>Nails &amp; Cyanosis</a:t>
            </a:r>
          </a:p>
          <a:p>
            <a:pPr>
              <a:spcBef>
                <a:spcPts val="600"/>
              </a:spcBef>
              <a:defRPr sz="1200">
                <a:solidFill>
                  <a:srgbClr val="212121"/>
                </a:solidFill>
              </a:defRPr>
            </a:pPr>
            <a:r>
              <a:t>Nail Body (visible keratin plate), Root (hidden in groove), Lunula (white crescent area).</a:t>
            </a:r>
            <a:br/>
            <a:r>
              <a:t>Cyanosis: bluish nail bed color from poor blood oxygenation.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291840" cy="2194560"/>
          </a:xfrm>
          <a:prstGeom prst="roundRect">
            <a:avLst/>
          </a:prstGeom>
          <a:solidFill>
            <a:srgbClr val="FAF5F8"/>
          </a:solidFill>
          <a:ln>
            <a:solidFill>
              <a:srgbClr val="DC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6002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80E4F"/>
                </a:solidFill>
              </a:defRPr>
            </a:pPr>
            <a:r>
              <a:t>Eccrine Sweat Glands</a:t>
            </a:r>
          </a:p>
          <a:p>
            <a:pPr>
              <a:spcBef>
                <a:spcPts val="600"/>
              </a:spcBef>
              <a:defRPr sz="1200">
                <a:solidFill>
                  <a:srgbClr val="212121"/>
                </a:solidFill>
              </a:defRPr>
            </a:pPr>
            <a:r>
              <a:t>Most abundant all over body. Secrete thin watery perspiration continuously for temperature cooling and waste elimination.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291840" cy="2194560"/>
          </a:xfrm>
          <a:prstGeom prst="roundRect">
            <a:avLst/>
          </a:prstGeom>
          <a:solidFill>
            <a:srgbClr val="FAF5F8"/>
          </a:solidFill>
          <a:ln>
            <a:solidFill>
              <a:srgbClr val="DC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69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80E4F"/>
                </a:solidFill>
              </a:defRPr>
            </a:pPr>
            <a:r>
              <a:t>Apocrine Sweat Glands</a:t>
            </a:r>
          </a:p>
          <a:p>
            <a:pPr>
              <a:spcBef>
                <a:spcPts val="600"/>
              </a:spcBef>
              <a:defRPr sz="1200">
                <a:solidFill>
                  <a:srgbClr val="212121"/>
                </a:solidFill>
              </a:defRPr>
            </a:pPr>
            <a:r>
              <a:t>Axilla, groin, nipples. Secrete thicker fluid in spurts. Odorless until acted upon by skin microbes/bacteria.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931920"/>
            <a:ext cx="3291840" cy="2194560"/>
          </a:xfrm>
          <a:prstGeom prst="roundRect">
            <a:avLst/>
          </a:prstGeom>
          <a:solidFill>
            <a:srgbClr val="FAF5F8"/>
          </a:solidFill>
          <a:ln>
            <a:solidFill>
              <a:srgbClr val="DC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4069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80E4F"/>
                </a:solidFill>
              </a:defRPr>
            </a:pPr>
            <a:r>
              <a:t>Sebaceous (Oil) Glands</a:t>
            </a:r>
          </a:p>
          <a:p>
            <a:pPr>
              <a:spcBef>
                <a:spcPts val="600"/>
              </a:spcBef>
              <a:defRPr sz="1200">
                <a:solidFill>
                  <a:srgbClr val="212121"/>
                </a:solidFill>
              </a:defRPr>
            </a:pPr>
            <a:r>
              <a:t>Everywhere hair grows; secrete Sebum ('nature's skin cream') to prevent cracking. Trapped sebum forms whiteheads (pimples) or blackheads.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931920"/>
            <a:ext cx="3291840" cy="2194560"/>
          </a:xfrm>
          <a:prstGeom prst="roundRect">
            <a:avLst/>
          </a:prstGeom>
          <a:solidFill>
            <a:srgbClr val="FAF5F8"/>
          </a:solidFill>
          <a:ln>
            <a:solidFill>
              <a:srgbClr val="DC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4069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80E4F"/>
                </a:solidFill>
              </a:defRPr>
            </a:pPr>
            <a:r>
              <a:t>Cutaneous Absorption</a:t>
            </a:r>
          </a:p>
          <a:p>
            <a:pPr>
              <a:spcBef>
                <a:spcPts val="600"/>
              </a:spcBef>
              <a:defRPr sz="1200">
                <a:solidFill>
                  <a:srgbClr val="212121"/>
                </a:solidFill>
              </a:defRPr>
            </a:pPr>
            <a:r>
              <a:t>Skin absorbs lipid-soluble drugs via passive diffusion (e.g. transdermal nitroglycerin/hormone patches).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80E4F"/>
          </a:solidFill>
          <a:ln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BBD0"/>
                </a:solidFill>
              </a:defRPr>
            </a:pPr>
            <a:r>
              <a:t>HCSS1087A • ANATOMY &amp; PHYSIOLOGY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3: Cutaneous Mechanoreceptors (Sensation)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1463040"/>
          </a:xfrm>
          <a:prstGeom prst="roundRect">
            <a:avLst/>
          </a:prstGeom>
          <a:solidFill>
            <a:srgbClr val="FAF5F8"/>
          </a:solidFill>
          <a:ln>
            <a:solidFill>
              <a:srgbClr val="DC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2185B"/>
                </a:solidFill>
              </a:defRPr>
            </a:pPr>
            <a:r>
              <a:t>Meissner's Corpuscle</a:t>
            </a:r>
          </a:p>
          <a:p>
            <a:pPr>
              <a:spcBef>
                <a:spcPts val="400"/>
              </a:spcBef>
              <a:defRPr sz="1300">
                <a:solidFill>
                  <a:srgbClr val="212121"/>
                </a:solidFill>
              </a:defRPr>
            </a:pPr>
            <a:r>
              <a:t>Function / Sensation: Texture &amp; light vibration / touch (located in dermal papillae).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120640" cy="1463040"/>
          </a:xfrm>
          <a:prstGeom prst="roundRect">
            <a:avLst/>
          </a:prstGeom>
          <a:solidFill>
            <a:srgbClr val="FAF5F8"/>
          </a:solidFill>
          <a:ln>
            <a:solidFill>
              <a:srgbClr val="DC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5544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2185B"/>
                </a:solidFill>
              </a:defRPr>
            </a:pPr>
            <a:r>
              <a:t>Pacinian Corpuscle</a:t>
            </a:r>
          </a:p>
          <a:p>
            <a:pPr>
              <a:spcBef>
                <a:spcPts val="400"/>
              </a:spcBef>
              <a:defRPr sz="1300">
                <a:solidFill>
                  <a:srgbClr val="212121"/>
                </a:solidFill>
              </a:defRPr>
            </a:pPr>
            <a:r>
              <a:t>Function / Sensation: Deep pressure &amp; fast vibration (located in reticular dermis/hypodermis).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5120640" cy="1463040"/>
          </a:xfrm>
          <a:prstGeom prst="roundRect">
            <a:avLst/>
          </a:prstGeom>
          <a:solidFill>
            <a:srgbClr val="FAF5F8"/>
          </a:solidFill>
          <a:ln>
            <a:solidFill>
              <a:srgbClr val="DC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2185B"/>
                </a:solidFill>
              </a:defRPr>
            </a:pPr>
            <a:r>
              <a:t>Ruffini's End Organ</a:t>
            </a:r>
          </a:p>
          <a:p>
            <a:pPr>
              <a:spcBef>
                <a:spcPts val="400"/>
              </a:spcBef>
              <a:defRPr sz="1300">
                <a:solidFill>
                  <a:srgbClr val="212121"/>
                </a:solidFill>
              </a:defRPr>
            </a:pPr>
            <a:r>
              <a:t>Function / Sensation: Skin stretch detection.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108960"/>
            <a:ext cx="5120640" cy="1463040"/>
          </a:xfrm>
          <a:prstGeom prst="roundRect">
            <a:avLst/>
          </a:prstGeom>
          <a:solidFill>
            <a:srgbClr val="FAF5F8"/>
          </a:solidFill>
          <a:ln>
            <a:solidFill>
              <a:srgbClr val="DC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004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2185B"/>
                </a:solidFill>
              </a:defRPr>
            </a:pPr>
            <a:r>
              <a:t>End Bulb of Krause</a:t>
            </a:r>
          </a:p>
          <a:p>
            <a:pPr>
              <a:spcBef>
                <a:spcPts val="400"/>
              </a:spcBef>
              <a:defRPr sz="1300">
                <a:solidFill>
                  <a:srgbClr val="212121"/>
                </a:solidFill>
              </a:defRPr>
            </a:pPr>
            <a:r>
              <a:t>Function / Sensation: Cold temperature detection.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5120640" cy="1463040"/>
          </a:xfrm>
          <a:prstGeom prst="roundRect">
            <a:avLst/>
          </a:prstGeom>
          <a:solidFill>
            <a:srgbClr val="FAF5F8"/>
          </a:solidFill>
          <a:ln>
            <a:solidFill>
              <a:srgbClr val="DC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84632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2185B"/>
                </a:solidFill>
              </a:defRPr>
            </a:pPr>
            <a:r>
              <a:t>Merkel's Disc</a:t>
            </a:r>
          </a:p>
          <a:p>
            <a:pPr>
              <a:spcBef>
                <a:spcPts val="400"/>
              </a:spcBef>
              <a:defRPr sz="1300">
                <a:solidFill>
                  <a:srgbClr val="212121"/>
                </a:solidFill>
              </a:defRPr>
            </a:pPr>
            <a:r>
              <a:t>Function / Sensation: Sustained touch and pressure.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754880"/>
            <a:ext cx="5120640" cy="1463040"/>
          </a:xfrm>
          <a:prstGeom prst="roundRect">
            <a:avLst/>
          </a:prstGeom>
          <a:solidFill>
            <a:srgbClr val="FAF5F8"/>
          </a:solidFill>
          <a:ln>
            <a:solidFill>
              <a:srgbClr val="DCB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84632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2185B"/>
                </a:solidFill>
              </a:defRPr>
            </a:pPr>
            <a:r>
              <a:t>Free Nerve Endings</a:t>
            </a:r>
          </a:p>
          <a:p>
            <a:pPr>
              <a:spcBef>
                <a:spcPts val="400"/>
              </a:spcBef>
              <a:defRPr sz="1300">
                <a:solidFill>
                  <a:srgbClr val="212121"/>
                </a:solidFill>
              </a:defRPr>
            </a:pPr>
            <a:r>
              <a:t>Function / Sensation: Pain and itching sensations (unencapsulated).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80E4F"/>
          </a:solidFill>
          <a:ln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BBD0"/>
                </a:solidFill>
              </a:defRPr>
            </a:pPr>
            <a:r>
              <a:t>HCSS1087A • ANATOMY &amp; PHYSIOLOGY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 Core Functions of the Skin &amp; Exam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846320"/>
          </a:xfrm>
          <a:prstGeom prst="roundRect">
            <a:avLst/>
          </a:prstGeom>
          <a:solidFill>
            <a:srgbClr val="FCE4EC"/>
          </a:solidFill>
          <a:ln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880E4F"/>
                </a:solidFill>
              </a:defRPr>
            </a:pPr>
            <a:r>
              <a:t>The 6 Core Functions &amp; Must-Know Exam Rules:</a:t>
            </a:r>
          </a:p>
          <a:p>
            <a:pPr>
              <a:spcBef>
                <a:spcPts val="1000"/>
              </a:spcBef>
              <a:defRPr sz="1400" b="1">
                <a:solidFill>
                  <a:srgbClr val="212121"/>
                </a:solidFill>
              </a:defRPr>
            </a:pPr>
            <a:r>
              <a:t>✔  1. Protection: First line defense against microbes, UV rays, chemicals, &amp; water loss.</a:t>
            </a:r>
          </a:p>
          <a:p>
            <a:pPr>
              <a:spcBef>
                <a:spcPts val="1000"/>
              </a:spcBef>
              <a:defRPr sz="1400" b="1">
                <a:solidFill>
                  <a:srgbClr val="212121"/>
                </a:solidFill>
              </a:defRPr>
            </a:pPr>
            <a:r>
              <a:t>✔  2. Temperature Regulation: Sweating (evaporative cooling) &amp; shivering/vasoconstriction (heat retention).</a:t>
            </a:r>
          </a:p>
          <a:p>
            <a:pPr>
              <a:spcBef>
                <a:spcPts val="1000"/>
              </a:spcBef>
              <a:defRPr sz="1400" b="1">
                <a:solidFill>
                  <a:srgbClr val="212121"/>
                </a:solidFill>
              </a:defRPr>
            </a:pPr>
            <a:r>
              <a:t>✔  3. Sensation: Enormous sense organ via cutaneous mechanoreceptors (Pacinian, Meissner, Krause).</a:t>
            </a:r>
          </a:p>
          <a:p>
            <a:pPr>
              <a:spcBef>
                <a:spcPts val="1000"/>
              </a:spcBef>
              <a:defRPr sz="1400" b="1">
                <a:solidFill>
                  <a:srgbClr val="212121"/>
                </a:solidFill>
              </a:defRPr>
            </a:pPr>
            <a:r>
              <a:t>✔  4. Excretion: Waste elimination (urea &amp; salts) through sweat gland activity.</a:t>
            </a:r>
          </a:p>
          <a:p>
            <a:pPr>
              <a:spcBef>
                <a:spcPts val="1000"/>
              </a:spcBef>
              <a:defRPr sz="1400" b="1">
                <a:solidFill>
                  <a:srgbClr val="212121"/>
                </a:solidFill>
              </a:defRPr>
            </a:pPr>
            <a:r>
              <a:t>✔  5. Vitamin D Synthesis: UV light converts skin precursor to active Vitamin D via liver &amp; kidneys.</a:t>
            </a:r>
          </a:p>
          <a:p>
            <a:pPr>
              <a:spcBef>
                <a:spcPts val="1000"/>
              </a:spcBef>
              <a:defRPr sz="1400" b="1">
                <a:solidFill>
                  <a:srgbClr val="212121"/>
                </a:solidFill>
              </a:defRPr>
            </a:pPr>
            <a:r>
              <a:t>✔  6. Absorption: Passive diffusion of lipid-soluble drugs via transdermal patches (e.g. nitroglycerin).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